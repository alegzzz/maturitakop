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22"/>
  </p:notesMasterIdLst>
  <p:sldIdLst>
    <p:sldId id="256" r:id="rId5"/>
    <p:sldId id="263" r:id="rId6"/>
    <p:sldId id="282" r:id="rId7"/>
    <p:sldId id="262" r:id="rId8"/>
    <p:sldId id="269" r:id="rId9"/>
    <p:sldId id="270" r:id="rId10"/>
    <p:sldId id="271" r:id="rId11"/>
    <p:sldId id="272" r:id="rId12"/>
    <p:sldId id="273" r:id="rId13"/>
    <p:sldId id="284" r:id="rId14"/>
    <p:sldId id="274" r:id="rId15"/>
    <p:sldId id="275" r:id="rId16"/>
    <p:sldId id="278" r:id="rId17"/>
    <p:sldId id="265" r:id="rId18"/>
    <p:sldId id="283" r:id="rId19"/>
    <p:sldId id="280" r:id="rId20"/>
    <p:sldId id="285" r:id="rId21"/>
  </p:sldIdLst>
  <p:sldSz cx="9144000" cy="6858000" type="screen4x3"/>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p:cViewPr varScale="1">
        <p:scale>
          <a:sx n="111" d="100"/>
          <a:sy n="111" d="100"/>
        </p:scale>
        <p:origin x="94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tkalík Dominik" userId="864a4097-7cb9-4158-b7c8-2308f8a8003e" providerId="ADAL" clId="{0858B367-7DEE-4E91-8A1F-36AFDEB19406}"/>
    <pc:docChg chg="modSld">
      <pc:chgData name="Zatkalík Dominik" userId="864a4097-7cb9-4158-b7c8-2308f8a8003e" providerId="ADAL" clId="{0858B367-7DEE-4E91-8A1F-36AFDEB19406}" dt="2025-09-01T06:31:52.627" v="17"/>
      <pc:docMkLst>
        <pc:docMk/>
      </pc:docMkLst>
      <pc:sldChg chg="modSp mod">
        <pc:chgData name="Zatkalík Dominik" userId="864a4097-7cb9-4158-b7c8-2308f8a8003e" providerId="ADAL" clId="{0858B367-7DEE-4E91-8A1F-36AFDEB19406}" dt="2025-09-01T06:31:52.627" v="17"/>
        <pc:sldMkLst>
          <pc:docMk/>
          <pc:sldMk cId="395579977" sldId="280"/>
        </pc:sldMkLst>
        <pc:spChg chg="mod">
          <ac:chgData name="Zatkalík Dominik" userId="864a4097-7cb9-4158-b7c8-2308f8a8003e" providerId="ADAL" clId="{0858B367-7DEE-4E91-8A1F-36AFDEB19406}" dt="2025-09-01T06:31:52.627" v="17"/>
          <ac:spMkLst>
            <pc:docMk/>
            <pc:sldMk cId="395579977" sldId="280"/>
            <ac:spMk id="3" creationId="{00000000-0000-0000-0000-000000000000}"/>
          </ac:spMkLst>
        </pc:spChg>
      </pc:sldChg>
      <pc:sldChg chg="modSp mod">
        <pc:chgData name="Zatkalík Dominik" userId="864a4097-7cb9-4158-b7c8-2308f8a8003e" providerId="ADAL" clId="{0858B367-7DEE-4E91-8A1F-36AFDEB19406}" dt="2025-09-01T06:31:24.074" v="16" actId="13926"/>
        <pc:sldMkLst>
          <pc:docMk/>
          <pc:sldMk cId="2908791607" sldId="285"/>
        </pc:sldMkLst>
        <pc:spChg chg="mod">
          <ac:chgData name="Zatkalík Dominik" userId="864a4097-7cb9-4158-b7c8-2308f8a8003e" providerId="ADAL" clId="{0858B367-7DEE-4E91-8A1F-36AFDEB19406}" dt="2025-09-01T06:31:24.074" v="16" actId="13926"/>
          <ac:spMkLst>
            <pc:docMk/>
            <pc:sldMk cId="2908791607" sldId="285"/>
            <ac:spMk id="2" creationId="{00000000-0000-0000-0000-000000000000}"/>
          </ac:spMkLst>
        </pc:spChg>
      </pc:sldChg>
    </pc:docChg>
  </pc:docChgLst>
  <pc:docChgLst>
    <pc:chgData name="Zatkalík Dominik" userId="864a4097-7cb9-4158-b7c8-2308f8a8003e" providerId="ADAL" clId="{57F0F736-478D-4739-8A27-D2CFD0FBF9E8}"/>
    <pc:docChg chg="custSel modSld">
      <pc:chgData name="Zatkalík Dominik" userId="864a4097-7cb9-4158-b7c8-2308f8a8003e" providerId="ADAL" clId="{57F0F736-478D-4739-8A27-D2CFD0FBF9E8}" dt="2025-08-11T09:43:47.465" v="57" actId="20577"/>
      <pc:docMkLst>
        <pc:docMk/>
      </pc:docMkLst>
      <pc:sldChg chg="modSp mod">
        <pc:chgData name="Zatkalík Dominik" userId="864a4097-7cb9-4158-b7c8-2308f8a8003e" providerId="ADAL" clId="{57F0F736-478D-4739-8A27-D2CFD0FBF9E8}" dt="2025-08-11T09:40:04.011" v="1" actId="20577"/>
        <pc:sldMkLst>
          <pc:docMk/>
          <pc:sldMk cId="392071184" sldId="256"/>
        </pc:sldMkLst>
        <pc:spChg chg="mod">
          <ac:chgData name="Zatkalík Dominik" userId="864a4097-7cb9-4158-b7c8-2308f8a8003e" providerId="ADAL" clId="{57F0F736-478D-4739-8A27-D2CFD0FBF9E8}" dt="2025-08-11T09:40:04.011" v="1" actId="20577"/>
          <ac:spMkLst>
            <pc:docMk/>
            <pc:sldMk cId="392071184" sldId="256"/>
            <ac:spMk id="3" creationId="{00000000-0000-0000-0000-000000000000}"/>
          </ac:spMkLst>
        </pc:spChg>
      </pc:sldChg>
      <pc:sldChg chg="modSp mod">
        <pc:chgData name="Zatkalík Dominik" userId="864a4097-7cb9-4158-b7c8-2308f8a8003e" providerId="ADAL" clId="{57F0F736-478D-4739-8A27-D2CFD0FBF9E8}" dt="2025-08-11T09:43:47.465" v="57" actId="20577"/>
        <pc:sldMkLst>
          <pc:docMk/>
          <pc:sldMk cId="2908791607" sldId="285"/>
        </pc:sldMkLst>
        <pc:spChg chg="mod">
          <ac:chgData name="Zatkalík Dominik" userId="864a4097-7cb9-4158-b7c8-2308f8a8003e" providerId="ADAL" clId="{57F0F736-478D-4739-8A27-D2CFD0FBF9E8}" dt="2025-08-11T09:43:47.465" v="57" actId="20577"/>
          <ac:spMkLst>
            <pc:docMk/>
            <pc:sldMk cId="2908791607" sldId="285"/>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hlavičky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k-SK"/>
          </a:p>
        </p:txBody>
      </p:sp>
      <p:sp>
        <p:nvSpPr>
          <p:cNvPr id="3" name="Zástupný symbol dátum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E8F708-0241-4D76-97E0-8C04A2869A45}" type="datetimeFigureOut">
              <a:rPr lang="sk-SK" smtClean="0"/>
              <a:t>1. 9. 2025</a:t>
            </a:fld>
            <a:endParaRPr lang="sk-SK"/>
          </a:p>
        </p:txBody>
      </p:sp>
      <p:sp>
        <p:nvSpPr>
          <p:cNvPr id="4" name="Zástupný symbol obrazu snímky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symbol poznámok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symbol päty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k-SK"/>
          </a:p>
        </p:txBody>
      </p:sp>
      <p:sp>
        <p:nvSpPr>
          <p:cNvPr id="7" name="Zástupný symbol čísla snímky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389665-715B-4B49-B08E-2E1B3C1914A4}" type="slidenum">
              <a:rPr lang="sk-SK" smtClean="0"/>
              <a:t>‹#›</a:t>
            </a:fld>
            <a:endParaRPr lang="sk-SK"/>
          </a:p>
        </p:txBody>
      </p:sp>
    </p:spTree>
    <p:extLst>
      <p:ext uri="{BB962C8B-B14F-4D97-AF65-F5344CB8AC3E}">
        <p14:creationId xmlns:p14="http://schemas.microsoft.com/office/powerpoint/2010/main" val="2178061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á snímka">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sk-SK"/>
              <a:t>Upravte štýly predlohy textu</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k-SK"/>
              <a:t>Upravte štýl predlohy podnadpisov</a:t>
            </a:r>
            <a:endParaRPr lang="en-US" dirty="0"/>
          </a:p>
        </p:txBody>
      </p:sp>
      <p:sp>
        <p:nvSpPr>
          <p:cNvPr id="4" name="Date Placeholder 3"/>
          <p:cNvSpPr>
            <a:spLocks noGrp="1"/>
          </p:cNvSpPr>
          <p:nvPr>
            <p:ph type="dt" sz="half" idx="10"/>
          </p:nvPr>
        </p:nvSpPr>
        <p:spPr/>
        <p:txBody>
          <a:bodyPr/>
          <a:lstStyle/>
          <a:p>
            <a:fld id="{C2D1A19F-E643-4805-A310-1BEAB72C8871}" type="datetime1">
              <a:rPr lang="sk-SK" smtClean="0"/>
              <a:t>1. 9. 2025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0ED3F64-EEEE-43E4-80C0-65816F620A91}" type="slidenum">
              <a:rPr lang="sk-SK" smtClean="0"/>
              <a:t>‹#›</a:t>
            </a:fld>
            <a:endParaRPr lang="sk-SK"/>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Date Placeholder 3"/>
          <p:cNvSpPr>
            <a:spLocks noGrp="1"/>
          </p:cNvSpPr>
          <p:nvPr>
            <p:ph type="dt" sz="half" idx="10"/>
          </p:nvPr>
        </p:nvSpPr>
        <p:spPr/>
        <p:txBody>
          <a:bodyPr/>
          <a:lstStyle/>
          <a:p>
            <a:fld id="{998CE07D-6F2F-421D-8ED7-617EE6075D77}" type="datetime1">
              <a:rPr lang="sk-SK" smtClean="0"/>
              <a:t>1. 9. 2025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0ED3F64-EEEE-43E4-80C0-65816F620A91}" type="slidenum">
              <a:rPr lang="sk-SK" smtClean="0"/>
              <a:t>‹#›</a:t>
            </a:fld>
            <a:endParaRPr lang="sk-SK"/>
          </a:p>
        </p:txBody>
      </p:sp>
      <p:sp>
        <p:nvSpPr>
          <p:cNvPr id="7" name="Title 6"/>
          <p:cNvSpPr>
            <a:spLocks noGrp="1"/>
          </p:cNvSpPr>
          <p:nvPr>
            <p:ph type="title"/>
          </p:nvPr>
        </p:nvSpPr>
        <p:spPr/>
        <p:txBody>
          <a:bodyPr/>
          <a:lstStyle/>
          <a:p>
            <a:r>
              <a:rPr lang="sk-SK"/>
              <a:t>Upravte štýly predlohy textu</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Hlavička sekcie">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sk-SK"/>
              <a:t>Upravte štýly predlohy textu</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Upravte štýl predlohy textu.</a:t>
            </a:r>
          </a:p>
        </p:txBody>
      </p:sp>
      <p:sp>
        <p:nvSpPr>
          <p:cNvPr id="4" name="Date Placeholder 3"/>
          <p:cNvSpPr>
            <a:spLocks noGrp="1"/>
          </p:cNvSpPr>
          <p:nvPr>
            <p:ph type="dt" sz="half" idx="10"/>
          </p:nvPr>
        </p:nvSpPr>
        <p:spPr/>
        <p:txBody>
          <a:bodyPr/>
          <a:lstStyle/>
          <a:p>
            <a:fld id="{1AE5CD3F-187E-4ED1-A6AE-2AA4641A02E2}" type="datetime1">
              <a:rPr lang="sk-SK" smtClean="0"/>
              <a:t>1. 9. 2025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0ED3F64-EEEE-43E4-80C0-65816F620A91}" type="slidenum">
              <a:rPr lang="sk-SK" smtClean="0"/>
              <a:t>‹#›</a:t>
            </a:fld>
            <a:endParaRPr lang="sk-SK"/>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a:p>
        </p:txBody>
      </p:sp>
      <p:sp>
        <p:nvSpPr>
          <p:cNvPr id="5" name="Date Placeholder 4"/>
          <p:cNvSpPr>
            <a:spLocks noGrp="1"/>
          </p:cNvSpPr>
          <p:nvPr>
            <p:ph type="dt" sz="half" idx="10"/>
          </p:nvPr>
        </p:nvSpPr>
        <p:spPr/>
        <p:txBody>
          <a:bodyPr/>
          <a:lstStyle/>
          <a:p>
            <a:fld id="{499A55EC-229B-48A4-B8B4-1ABFB33FD9AF}" type="datetime1">
              <a:rPr lang="sk-SK" smtClean="0"/>
              <a:t>1. 9. 2025</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60ED3F64-EEEE-43E4-80C0-65816F620A91}" type="slidenum">
              <a:rPr lang="sk-SK" smtClean="0"/>
              <a:t>‹#›</a:t>
            </a:fld>
            <a:endParaRPr lang="sk-SK"/>
          </a:p>
        </p:txBody>
      </p:sp>
      <p:sp>
        <p:nvSpPr>
          <p:cNvPr id="9" name="Content Placeholder 8"/>
          <p:cNvSpPr>
            <a:spLocks noGrp="1"/>
          </p:cNvSpPr>
          <p:nvPr>
            <p:ph sz="quarter" idx="13"/>
          </p:nvPr>
        </p:nvSpPr>
        <p:spPr>
          <a:xfrm>
            <a:off x="676655" y="2679192"/>
            <a:ext cx="3822192" cy="3447288"/>
          </a:xfrm>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sk-SK"/>
              <a:t>Upravte štýly predlohy textu</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Upravte štýl predlohy textu.</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7" name="Date Placeholder 6"/>
          <p:cNvSpPr>
            <a:spLocks noGrp="1"/>
          </p:cNvSpPr>
          <p:nvPr>
            <p:ph type="dt" sz="half" idx="10"/>
          </p:nvPr>
        </p:nvSpPr>
        <p:spPr/>
        <p:txBody>
          <a:bodyPr/>
          <a:lstStyle/>
          <a:p>
            <a:fld id="{30EBE063-33DF-49E4-BC78-08DBC0586E6A}" type="datetime1">
              <a:rPr lang="sk-SK" smtClean="0"/>
              <a:t>1. 9. 2025</a:t>
            </a:fld>
            <a:endParaRPr lang="sk-SK"/>
          </a:p>
        </p:txBody>
      </p:sp>
      <p:sp>
        <p:nvSpPr>
          <p:cNvPr id="8" name="Footer Placeholder 7"/>
          <p:cNvSpPr>
            <a:spLocks noGrp="1"/>
          </p:cNvSpPr>
          <p:nvPr>
            <p:ph type="ftr" sz="quarter" idx="11"/>
          </p:nvPr>
        </p:nvSpPr>
        <p:spPr/>
        <p:txBody>
          <a:bodyPr/>
          <a:lstStyle/>
          <a:p>
            <a:endParaRPr lang="sk-SK"/>
          </a:p>
        </p:txBody>
      </p:sp>
      <p:sp>
        <p:nvSpPr>
          <p:cNvPr id="9" name="Slide Number Placeholder 8"/>
          <p:cNvSpPr>
            <a:spLocks noGrp="1"/>
          </p:cNvSpPr>
          <p:nvPr>
            <p:ph type="sldNum" sz="quarter" idx="12"/>
          </p:nvPr>
        </p:nvSpPr>
        <p:spPr/>
        <p:txBody>
          <a:bodyPr/>
          <a:lstStyle/>
          <a:p>
            <a:fld id="{60ED3F64-EEEE-43E4-80C0-65816F620A91}" type="slidenum">
              <a:rPr lang="sk-SK" smtClean="0"/>
              <a:t>‹#›</a:t>
            </a:fld>
            <a:endParaRPr lang="sk-SK"/>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a:p>
        </p:txBody>
      </p:sp>
      <p:sp>
        <p:nvSpPr>
          <p:cNvPr id="3" name="Date Placeholder 2"/>
          <p:cNvSpPr>
            <a:spLocks noGrp="1"/>
          </p:cNvSpPr>
          <p:nvPr>
            <p:ph type="dt" sz="half" idx="10"/>
          </p:nvPr>
        </p:nvSpPr>
        <p:spPr/>
        <p:txBody>
          <a:bodyPr/>
          <a:lstStyle/>
          <a:p>
            <a:fld id="{33102881-B090-4E2B-84B3-1A15762F956B}" type="datetime1">
              <a:rPr lang="sk-SK" smtClean="0"/>
              <a:t>1. 9. 2025</a:t>
            </a:fld>
            <a:endParaRPr lang="sk-SK"/>
          </a:p>
        </p:txBody>
      </p:sp>
      <p:sp>
        <p:nvSpPr>
          <p:cNvPr id="4" name="Footer Placeholder 3"/>
          <p:cNvSpPr>
            <a:spLocks noGrp="1"/>
          </p:cNvSpPr>
          <p:nvPr>
            <p:ph type="ftr" sz="quarter" idx="11"/>
          </p:nvPr>
        </p:nvSpPr>
        <p:spPr/>
        <p:txBody>
          <a:bodyPr/>
          <a:lstStyle/>
          <a:p>
            <a:endParaRPr lang="sk-SK"/>
          </a:p>
        </p:txBody>
      </p:sp>
      <p:sp>
        <p:nvSpPr>
          <p:cNvPr id="5" name="Slide Number Placeholder 4"/>
          <p:cNvSpPr>
            <a:spLocks noGrp="1"/>
          </p:cNvSpPr>
          <p:nvPr>
            <p:ph type="sldNum" sz="quarter" idx="12"/>
          </p:nvPr>
        </p:nvSpPr>
        <p:spPr/>
        <p:txBody>
          <a:bodyPr/>
          <a:lstStyle/>
          <a:p>
            <a:fld id="{60ED3F64-EEEE-43E4-80C0-65816F620A91}" type="slidenum">
              <a:rPr lang="sk-SK" smtClean="0"/>
              <a:t>‹#›</a:t>
            </a:fld>
            <a:endParaRPr lang="sk-SK"/>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rázdna">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E6507D21-3E8F-488C-9583-756F5B552FD9}" type="datetime1">
              <a:rPr lang="sk-SK" smtClean="0"/>
              <a:t>1. 9. 2025</a:t>
            </a:fld>
            <a:endParaRPr lang="sk-SK"/>
          </a:p>
        </p:txBody>
      </p:sp>
      <p:sp>
        <p:nvSpPr>
          <p:cNvPr id="3" name="Footer Placeholder 2"/>
          <p:cNvSpPr>
            <a:spLocks noGrp="1"/>
          </p:cNvSpPr>
          <p:nvPr>
            <p:ph type="ftr" sz="quarter" idx="11"/>
          </p:nvPr>
        </p:nvSpPr>
        <p:spPr/>
        <p:txBody>
          <a:bodyPr/>
          <a:lstStyle/>
          <a:p>
            <a:endParaRPr lang="sk-SK"/>
          </a:p>
        </p:txBody>
      </p:sp>
      <p:sp>
        <p:nvSpPr>
          <p:cNvPr id="4" name="Slide Number Placeholder 3"/>
          <p:cNvSpPr>
            <a:spLocks noGrp="1"/>
          </p:cNvSpPr>
          <p:nvPr>
            <p:ph type="sldNum" sz="quarter" idx="12"/>
          </p:nvPr>
        </p:nvSpPr>
        <p:spPr/>
        <p:txBody>
          <a:bodyPr/>
          <a:lstStyle/>
          <a:p>
            <a:fld id="{60ED3F64-EEEE-43E4-80C0-65816F620A91}" type="slidenum">
              <a:rPr lang="sk-SK" smtClean="0"/>
              <a:t>‹#›</a:t>
            </a:fld>
            <a:endParaRPr lang="sk-SK"/>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Obsah s popisom">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F2CEE66-D805-4AAC-9D65-4D3495D4AAE7}" type="datetime1">
              <a:rPr lang="sk-SK" smtClean="0"/>
              <a:t>1. 9. 2025</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60ED3F64-EEEE-43E4-80C0-65816F620A91}" type="slidenum">
              <a:rPr lang="sk-SK" smtClean="0"/>
              <a:t>‹#›</a:t>
            </a:fld>
            <a:endParaRPr lang="sk-SK"/>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Upravte štýl predlohy textu.</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sk-SK"/>
              <a:t>Upravte štýly predlohy textu</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ázok s popisom">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sk-SK"/>
              <a:t>Upravte štýly predlohy textu</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Upravte štýl predlohy textu.</a:t>
            </a:r>
          </a:p>
        </p:txBody>
      </p:sp>
      <p:sp>
        <p:nvSpPr>
          <p:cNvPr id="5" name="Date Placeholder 4"/>
          <p:cNvSpPr>
            <a:spLocks noGrp="1"/>
          </p:cNvSpPr>
          <p:nvPr>
            <p:ph type="dt" sz="half" idx="10"/>
          </p:nvPr>
        </p:nvSpPr>
        <p:spPr/>
        <p:txBody>
          <a:bodyPr/>
          <a:lstStyle/>
          <a:p>
            <a:fld id="{2C9996EA-76AB-47D1-95C1-9AB5B654E3E4}" type="datetime1">
              <a:rPr lang="sk-SK" smtClean="0"/>
              <a:t>1. 9. 2025</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60ED3F64-EEEE-43E4-80C0-65816F620A91}" type="slidenum">
              <a:rPr lang="sk-SK" smtClean="0"/>
              <a:t>‹#›</a:t>
            </a:fld>
            <a:endParaRPr lang="sk-SK"/>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k-SK"/>
              <a:t>Ak chcete pridať obrázok, kliknite na ikonu</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Upravte štýly predlohy textu</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a:p>
        </p:txBody>
      </p:sp>
      <p:sp>
        <p:nvSpPr>
          <p:cNvPr id="4" name="Date Placeholder 3"/>
          <p:cNvSpPr>
            <a:spLocks noGrp="1"/>
          </p:cNvSpPr>
          <p:nvPr>
            <p:ph type="dt" sz="half" idx="10"/>
          </p:nvPr>
        </p:nvSpPr>
        <p:spPr/>
        <p:txBody>
          <a:bodyPr/>
          <a:lstStyle/>
          <a:p>
            <a:fld id="{762B8169-2C00-4A1D-A447-DE55BAA15E86}" type="datetime1">
              <a:rPr lang="sk-SK" smtClean="0"/>
              <a:t>1. 9. 2025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0ED3F64-EEEE-43E4-80C0-65816F620A91}" type="slidenum">
              <a:rPr lang="sk-SK" smtClean="0"/>
              <a:t>‹#›</a:t>
            </a:fld>
            <a:endParaRPr lang="sk-SK"/>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Zvislý nadpis a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868638E-CE26-44E0-98E9-1C5F42AFC11D}" type="datetime1">
              <a:rPr lang="sk-SK" smtClean="0"/>
              <a:t>1. 9. 2025</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60ED3F64-EEEE-43E4-80C0-65816F620A91}" type="slidenum">
              <a:rPr lang="sk-SK" smtClean="0"/>
              <a:t>‹#›</a:t>
            </a:fld>
            <a:endParaRPr lang="sk-SK"/>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sk-SK"/>
              <a:t>Upravte štýly predlohy textu</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sk-SK"/>
              <a:t>Upravte štýly predlohy textu</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16220F7-1F44-4330-97B2-0C6354AD6BF1}" type="datetime1">
              <a:rPr lang="sk-SK" smtClean="0"/>
              <a:t>1. 9. 2025</a:t>
            </a:fld>
            <a:endParaRPr lang="sk-SK"/>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sk-SK"/>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0ED3F64-EEEE-43E4-80C0-65816F620A91}" type="slidenum">
              <a:rPr lang="sk-SK" smtClean="0"/>
              <a:t>‹#›</a:t>
            </a:fld>
            <a:endParaRPr lang="sk-SK"/>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sk-SK"/>
              <a:t>Upravte štýl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statpedu.sk/sk/" TargetMode="External"/><Relationship Id="rId2" Type="http://schemas.openxmlformats.org/officeDocument/2006/relationships/hyperlink" Target="http://www.statpedu.sk/sk/maturitne-skusky/platne-od-sk-r-2018/201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a:xfrm>
            <a:off x="683568" y="476672"/>
            <a:ext cx="7772400" cy="1470025"/>
          </a:xfrm>
        </p:spPr>
        <p:txBody>
          <a:bodyPr/>
          <a:lstStyle/>
          <a:p>
            <a:r>
              <a:rPr lang="sk-SK" dirty="0"/>
              <a:t>Základné informácie</a:t>
            </a:r>
          </a:p>
        </p:txBody>
      </p:sp>
      <p:sp>
        <p:nvSpPr>
          <p:cNvPr id="3" name="Podnadpis 2"/>
          <p:cNvSpPr>
            <a:spLocks noGrp="1"/>
          </p:cNvSpPr>
          <p:nvPr>
            <p:ph type="subTitle" idx="1"/>
          </p:nvPr>
        </p:nvSpPr>
        <p:spPr>
          <a:xfrm>
            <a:off x="1331640" y="2636912"/>
            <a:ext cx="6400800" cy="2952328"/>
          </a:xfrm>
        </p:spPr>
        <p:txBody>
          <a:bodyPr>
            <a:normAutofit/>
          </a:bodyPr>
          <a:lstStyle/>
          <a:p>
            <a:r>
              <a:rPr lang="sk-SK" sz="6600" b="1" dirty="0">
                <a:solidFill>
                  <a:schemeClr val="tx1"/>
                </a:solidFill>
              </a:rPr>
              <a:t>Maturita 202</a:t>
            </a:r>
            <a:r>
              <a:rPr lang="en-US" sz="6600" b="1" dirty="0">
                <a:solidFill>
                  <a:schemeClr val="tx1"/>
                </a:solidFill>
              </a:rPr>
              <a:t>6</a:t>
            </a:r>
            <a:endParaRPr lang="sk-SK" sz="6600" b="1" dirty="0">
              <a:solidFill>
                <a:schemeClr val="tx1"/>
              </a:solidFill>
            </a:endParaRPr>
          </a:p>
          <a:p>
            <a:r>
              <a:rPr lang="sk-SK" sz="3600" b="1" dirty="0">
                <a:solidFill>
                  <a:schemeClr val="tx1"/>
                </a:solidFill>
              </a:rPr>
              <a:t>SPŠE, </a:t>
            </a:r>
            <a:r>
              <a:rPr lang="sk-SK" sz="3600" b="1" dirty="0" err="1">
                <a:solidFill>
                  <a:schemeClr val="tx1"/>
                </a:solidFill>
              </a:rPr>
              <a:t>Hálova</a:t>
            </a:r>
            <a:r>
              <a:rPr lang="sk-SK" sz="3600" b="1" dirty="0">
                <a:solidFill>
                  <a:schemeClr val="tx1"/>
                </a:solidFill>
              </a:rPr>
              <a:t> 16, Bratislava</a:t>
            </a:r>
          </a:p>
          <a:p>
            <a:endParaRPr lang="sk-SK" sz="3600" b="1" dirty="0">
              <a:solidFill>
                <a:schemeClr val="tx1"/>
              </a:solidFill>
            </a:endParaRPr>
          </a:p>
          <a:p>
            <a:endParaRPr lang="sk-SK" sz="3600" b="1" dirty="0">
              <a:solidFill>
                <a:schemeClr val="tx1"/>
              </a:solidFill>
            </a:endParaRPr>
          </a:p>
          <a:p>
            <a:endParaRPr lang="sk-SK" sz="3600" b="1" dirty="0">
              <a:solidFill>
                <a:schemeClr val="tx1"/>
              </a:solidFill>
            </a:endParaRPr>
          </a:p>
          <a:p>
            <a:endParaRPr lang="sk-SK" sz="3600" b="1" dirty="0">
              <a:solidFill>
                <a:schemeClr val="tx1"/>
              </a:solidFill>
            </a:endParaRPr>
          </a:p>
        </p:txBody>
      </p:sp>
      <p:sp>
        <p:nvSpPr>
          <p:cNvPr id="5" name="Zástupný symbol čísla snímky 4"/>
          <p:cNvSpPr>
            <a:spLocks noGrp="1"/>
          </p:cNvSpPr>
          <p:nvPr>
            <p:ph type="sldNum" sz="quarter" idx="12"/>
          </p:nvPr>
        </p:nvSpPr>
        <p:spPr/>
        <p:txBody>
          <a:bodyPr/>
          <a:lstStyle/>
          <a:p>
            <a:fld id="{60ED3F64-EEEE-43E4-80C0-65816F620A91}" type="slidenum">
              <a:rPr lang="sk-SK" smtClean="0"/>
              <a:t>1</a:t>
            </a:fld>
            <a:endParaRPr lang="sk-SK"/>
          </a:p>
        </p:txBody>
      </p:sp>
    </p:spTree>
    <p:extLst>
      <p:ext uri="{BB962C8B-B14F-4D97-AF65-F5344CB8AC3E}">
        <p14:creationId xmlns:p14="http://schemas.microsoft.com/office/powerpoint/2010/main" val="392071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fontScale="85000" lnSpcReduction="20000"/>
          </a:bodyPr>
          <a:lstStyle/>
          <a:p>
            <a:pPr marL="0" indent="0">
              <a:buNone/>
            </a:pPr>
            <a:r>
              <a:rPr lang="sk-SK" dirty="0"/>
              <a:t> </a:t>
            </a:r>
          </a:p>
          <a:p>
            <a:pPr marL="0" indent="0" algn="just">
              <a:buNone/>
            </a:pPr>
            <a:r>
              <a:rPr lang="sk-SK" dirty="0"/>
              <a:t>Maturitná skúška po obsahovej stránke vychádza z </a:t>
            </a:r>
            <a:r>
              <a:rPr lang="sk-SK" dirty="0">
                <a:hlinkClick r:id="rId2"/>
              </a:rPr>
              <a:t>Cieľových požiadaviek na maturanta</a:t>
            </a:r>
            <a:r>
              <a:rPr lang="sk-SK" dirty="0"/>
              <a:t>, ktoré nájdete v časti Dokumenty. Cieľové požiadavky na maturanta z jednotlivých predmetov vydáva a aktualizuje </a:t>
            </a:r>
            <a:r>
              <a:rPr lang="sk-SK" dirty="0">
                <a:hlinkClick r:id="rId3"/>
              </a:rPr>
              <a:t>Štátny pedagogický ústav</a:t>
            </a:r>
            <a:endParaRPr lang="sk-SK" dirty="0"/>
          </a:p>
          <a:p>
            <a:pPr marL="0" indent="0" algn="just">
              <a:buNone/>
            </a:pPr>
            <a:endParaRPr lang="sk-SK" dirty="0"/>
          </a:p>
          <a:p>
            <a:pPr marL="0" indent="0" algn="just">
              <a:buNone/>
            </a:pPr>
            <a:r>
              <a:rPr lang="sk-SK" dirty="0"/>
              <a:t>Cieľom MS je overenie vedomostí a zručností žiakov v rozsahu učiva určeného katalógom  cieľových požiadaviek a overenie toho, ako sú žiaci pripravení používať získané kompetencie v ďalšom štúdiu alebo pri výkone povolaní a odborných činností, na ktoré sa pripravujú.</a:t>
            </a:r>
          </a:p>
          <a:p>
            <a:pPr marL="0" indent="0">
              <a:buNone/>
            </a:pPr>
            <a:r>
              <a:rPr lang="sk-SK" dirty="0"/>
              <a:t> </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2</a:t>
            </a:fld>
            <a:endParaRPr lang="sk-SK"/>
          </a:p>
        </p:txBody>
      </p:sp>
      <p:sp>
        <p:nvSpPr>
          <p:cNvPr id="4" name="Nadpis 3"/>
          <p:cNvSpPr>
            <a:spLocks noGrp="1"/>
          </p:cNvSpPr>
          <p:nvPr>
            <p:ph type="title"/>
          </p:nvPr>
        </p:nvSpPr>
        <p:spPr>
          <a:xfrm>
            <a:off x="457200" y="274638"/>
            <a:ext cx="8291264" cy="1138138"/>
          </a:xfrm>
        </p:spPr>
        <p:txBody>
          <a:bodyPr>
            <a:normAutofit/>
          </a:bodyPr>
          <a:lstStyle/>
          <a:p>
            <a:pPr lvl="0"/>
            <a:r>
              <a:rPr lang="sk-SK" b="1" dirty="0"/>
              <a:t>CIEĽ MATURITNEJ SKÚŠKY</a:t>
            </a:r>
            <a:endParaRPr lang="sk-SK" dirty="0"/>
          </a:p>
        </p:txBody>
      </p:sp>
    </p:spTree>
    <p:extLst>
      <p:ext uri="{BB962C8B-B14F-4D97-AF65-F5344CB8AC3E}">
        <p14:creationId xmlns:p14="http://schemas.microsoft.com/office/powerpoint/2010/main" val="662727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fontScale="92500" lnSpcReduction="20000"/>
          </a:bodyPr>
          <a:lstStyle/>
          <a:p>
            <a:pPr marL="0" indent="0">
              <a:buNone/>
            </a:pPr>
            <a:r>
              <a:rPr lang="sk-SK" i="1" dirty="0"/>
              <a:t> </a:t>
            </a:r>
            <a:endParaRPr lang="sk-SK" dirty="0"/>
          </a:p>
          <a:p>
            <a:pPr marL="0" indent="0" algn="just">
              <a:buNone/>
            </a:pPr>
            <a:r>
              <a:rPr lang="sk-SK" dirty="0"/>
              <a:t>Žiak posledného ročníka príslušného vzdelávacieho programu študijného oboru v SŠ do </a:t>
            </a:r>
            <a:r>
              <a:rPr lang="sk-SK" b="1" dirty="0">
                <a:solidFill>
                  <a:srgbClr val="FF0000"/>
                </a:solidFill>
              </a:rPr>
              <a:t>30. septembra </a:t>
            </a:r>
            <a:r>
              <a:rPr lang="sk-SK" dirty="0"/>
              <a:t>písomne oznámi triednemu učiteľovi predmety, ktoré si na MS zvolil a tému PČOZ. Ak koná MS dobrovoľne z ďalšieho predmetu, do 30. septembra oznámi triednemu učiteľovi predmet, ktorý si na skúšku zvolil.</a:t>
            </a:r>
          </a:p>
          <a:p>
            <a:pPr marL="0" indent="0" algn="just">
              <a:buNone/>
            </a:pPr>
            <a:r>
              <a:rPr lang="sk-SK" dirty="0"/>
              <a:t>Žiak s </a:t>
            </a:r>
            <a:r>
              <a:rPr lang="sk-SK" b="1" dirty="0"/>
              <a:t>vývinovými poruchami učenia </a:t>
            </a:r>
            <a:r>
              <a:rPr lang="sk-SK" dirty="0"/>
              <a:t>na základe žiadosti o úprave konania MS oznámi aj spôsob vykonania maturitnej skúšky. Má možnosť vykonať len ústnu formu MS z cudzieho jazyka.</a:t>
            </a:r>
          </a:p>
          <a:p>
            <a:pPr marL="0" indent="0">
              <a:buNone/>
            </a:pPr>
            <a:endParaRPr lang="sk-SK" dirty="0"/>
          </a:p>
          <a:p>
            <a:endParaRPr lang="sk-SK" dirty="0"/>
          </a:p>
        </p:txBody>
      </p:sp>
      <p:sp>
        <p:nvSpPr>
          <p:cNvPr id="5" name="Zástupný symbol čísla snímky 4"/>
          <p:cNvSpPr>
            <a:spLocks noGrp="1"/>
          </p:cNvSpPr>
          <p:nvPr>
            <p:ph type="sldNum" sz="quarter" idx="12"/>
          </p:nvPr>
        </p:nvSpPr>
        <p:spPr/>
        <p:txBody>
          <a:bodyPr/>
          <a:lstStyle/>
          <a:p>
            <a:fld id="{60ED3F64-EEEE-43E4-80C0-65816F620A91}" type="slidenum">
              <a:rPr lang="sk-SK" smtClean="0"/>
              <a:t>3</a:t>
            </a:fld>
            <a:endParaRPr lang="sk-SK"/>
          </a:p>
        </p:txBody>
      </p:sp>
      <p:sp>
        <p:nvSpPr>
          <p:cNvPr id="2" name="Nadpis 1"/>
          <p:cNvSpPr>
            <a:spLocks noGrp="1"/>
          </p:cNvSpPr>
          <p:nvPr>
            <p:ph type="title"/>
          </p:nvPr>
        </p:nvSpPr>
        <p:spPr/>
        <p:txBody>
          <a:bodyPr>
            <a:normAutofit fontScale="90000"/>
          </a:bodyPr>
          <a:lstStyle/>
          <a:p>
            <a:pPr lvl="0"/>
            <a:r>
              <a:rPr lang="sk-SK" b="1" dirty="0"/>
              <a:t>PRIHLÁSENIE ŽIAKA NA  MATURITNÚ SKÚŠKU</a:t>
            </a:r>
            <a:endParaRPr lang="sk-SK" dirty="0"/>
          </a:p>
        </p:txBody>
      </p:sp>
    </p:spTree>
    <p:extLst>
      <p:ext uri="{BB962C8B-B14F-4D97-AF65-F5344CB8AC3E}">
        <p14:creationId xmlns:p14="http://schemas.microsoft.com/office/powerpoint/2010/main" val="379660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a:bodyPr>
          <a:lstStyle/>
          <a:p>
            <a:pPr marL="0" indent="0" algn="just">
              <a:buNone/>
            </a:pPr>
            <a:endParaRPr lang="sk-SK" dirty="0"/>
          </a:p>
          <a:p>
            <a:pPr marL="0" indent="0" algn="just">
              <a:buNone/>
            </a:pPr>
            <a:r>
              <a:rPr lang="sk-SK" dirty="0"/>
              <a:t>Maturitná skúška pozostáva z dvoch častí:</a:t>
            </a:r>
          </a:p>
          <a:p>
            <a:pPr lvl="1" algn="just">
              <a:buFont typeface="Courier New" panose="02070309020205020404" pitchFamily="49" charset="0"/>
              <a:buChar char="o"/>
            </a:pPr>
            <a:r>
              <a:rPr lang="sk-SK" b="1" dirty="0">
                <a:solidFill>
                  <a:srgbClr val="FF0000"/>
                </a:solidFill>
              </a:rPr>
              <a:t>externej – </a:t>
            </a:r>
            <a:r>
              <a:rPr lang="sk-SK" dirty="0"/>
              <a:t>slovenský jazyk a literatúra, cudzí jazyk,  (matematika -  dobrovoľná maturitná skúška),</a:t>
            </a:r>
          </a:p>
          <a:p>
            <a:pPr lvl="1" algn="just">
              <a:buFont typeface="Courier New" panose="02070309020205020404" pitchFamily="49" charset="0"/>
              <a:buChar char="o"/>
            </a:pPr>
            <a:r>
              <a:rPr lang="sk-SK" b="1" dirty="0">
                <a:solidFill>
                  <a:srgbClr val="FF0000"/>
                </a:solidFill>
              </a:rPr>
              <a:t>internej – </a:t>
            </a:r>
            <a:r>
              <a:rPr lang="sk-SK" dirty="0"/>
              <a:t>slovenský jazyk a literatúra, cudzí jazyk (písomná a ústna forma), praktická časť odbornej zložky, teoretická časť odbornej zložky (ústna forma).</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4</a:t>
            </a:fld>
            <a:endParaRPr lang="sk-SK"/>
          </a:p>
        </p:txBody>
      </p:sp>
      <p:sp>
        <p:nvSpPr>
          <p:cNvPr id="2" name="Nadpis 1"/>
          <p:cNvSpPr>
            <a:spLocks noGrp="1"/>
          </p:cNvSpPr>
          <p:nvPr>
            <p:ph type="title"/>
          </p:nvPr>
        </p:nvSpPr>
        <p:spPr/>
        <p:txBody>
          <a:bodyPr>
            <a:normAutofit/>
          </a:bodyPr>
          <a:lstStyle/>
          <a:p>
            <a:r>
              <a:rPr lang="sk-SK" b="1" dirty="0"/>
              <a:t>Organizácia maturitnej skúšky </a:t>
            </a:r>
            <a:endParaRPr lang="sk-SK" dirty="0"/>
          </a:p>
        </p:txBody>
      </p:sp>
    </p:spTree>
    <p:extLst>
      <p:ext uri="{BB962C8B-B14F-4D97-AF65-F5344CB8AC3E}">
        <p14:creationId xmlns:p14="http://schemas.microsoft.com/office/powerpoint/2010/main" val="1892827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683568" y="1988840"/>
            <a:ext cx="7408333" cy="3450696"/>
          </a:xfrm>
        </p:spPr>
        <p:txBody>
          <a:bodyPr>
            <a:noAutofit/>
          </a:bodyPr>
          <a:lstStyle/>
          <a:p>
            <a:pPr algn="just">
              <a:spcBef>
                <a:spcPts val="0"/>
              </a:spcBef>
            </a:pPr>
            <a:r>
              <a:rPr lang="sk-SK" sz="2000" dirty="0"/>
              <a:t>Interná časť MS je verejná okrem jej písomnej formy.</a:t>
            </a:r>
          </a:p>
          <a:p>
            <a:pPr algn="just">
              <a:spcBef>
                <a:spcPts val="0"/>
              </a:spcBef>
            </a:pPr>
            <a:endParaRPr lang="sk-SK" sz="2000" dirty="0"/>
          </a:p>
          <a:p>
            <a:pPr algn="just">
              <a:spcBef>
                <a:spcPts val="0"/>
              </a:spcBef>
            </a:pPr>
            <a:r>
              <a:rPr lang="sk-SK" sz="2000" dirty="0"/>
              <a:t>Žiak môže vykonať v jeden deň internú časť MS okrem písomnej formy internej časti MS a praktickej časti odbornej zložky najviac z troch predmetov.</a:t>
            </a:r>
          </a:p>
          <a:p>
            <a:pPr algn="just">
              <a:spcBef>
                <a:spcPts val="0"/>
              </a:spcBef>
            </a:pPr>
            <a:endParaRPr lang="sk-SK" sz="2000" dirty="0"/>
          </a:p>
          <a:p>
            <a:pPr algn="just">
              <a:spcBef>
                <a:spcPts val="0"/>
              </a:spcBef>
            </a:pPr>
            <a:r>
              <a:rPr lang="sk-SK" sz="2000" dirty="0"/>
              <a:t>Žiak môže vykonať internú časť MS okrem jej písomnej formy a praktickej časti odbornej zložky v priebehu najviac piatich pracovných dní.</a:t>
            </a:r>
          </a:p>
          <a:p>
            <a:pPr algn="just">
              <a:spcBef>
                <a:spcPts val="0"/>
              </a:spcBef>
            </a:pPr>
            <a:endParaRPr lang="sk-SK" sz="2000" dirty="0"/>
          </a:p>
          <a:p>
            <a:pPr algn="just">
              <a:spcBef>
                <a:spcPts val="0"/>
              </a:spcBef>
            </a:pPr>
            <a:r>
              <a:rPr lang="sk-SK" sz="2000" dirty="0"/>
              <a:t>Pred začiatkom konania internej časti MS okrem jej písomnej formy sa žiak päť po sebe nasledujúcich vyučovacích dní nezúčastňuje na vyučovaní – tieto dni sú určené na prípravu žiaka na skúšku.</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5</a:t>
            </a:fld>
            <a:endParaRPr lang="sk-SK"/>
          </a:p>
        </p:txBody>
      </p:sp>
      <p:sp>
        <p:nvSpPr>
          <p:cNvPr id="2" name="Nadpis 1"/>
          <p:cNvSpPr>
            <a:spLocks noGrp="1"/>
          </p:cNvSpPr>
          <p:nvPr>
            <p:ph type="title"/>
          </p:nvPr>
        </p:nvSpPr>
        <p:spPr/>
        <p:txBody>
          <a:bodyPr>
            <a:normAutofit/>
          </a:bodyPr>
          <a:lstStyle/>
          <a:p>
            <a:r>
              <a:rPr lang="sk-SK" b="1" dirty="0"/>
              <a:t>Organizácia maturitnej skúšky</a:t>
            </a:r>
            <a:endParaRPr lang="sk-SK" dirty="0"/>
          </a:p>
        </p:txBody>
      </p:sp>
    </p:spTree>
    <p:extLst>
      <p:ext uri="{BB962C8B-B14F-4D97-AF65-F5344CB8AC3E}">
        <p14:creationId xmlns:p14="http://schemas.microsoft.com/office/powerpoint/2010/main" val="1113333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755576" y="2060848"/>
            <a:ext cx="7408333" cy="3450696"/>
          </a:xfrm>
        </p:spPr>
        <p:txBody>
          <a:bodyPr>
            <a:noAutofit/>
          </a:bodyPr>
          <a:lstStyle/>
          <a:p>
            <a:pPr marL="0" indent="0" algn="just">
              <a:buNone/>
            </a:pPr>
            <a:r>
              <a:rPr lang="sk-SK" sz="1600" b="1" dirty="0"/>
              <a:t>Slovenský jazyk a literatúra</a:t>
            </a:r>
          </a:p>
          <a:p>
            <a:pPr algn="just"/>
            <a:r>
              <a:rPr lang="sk-SK" sz="1600" dirty="0"/>
              <a:t>Maturitná skúška pozostáva z externej časti MS zo SJL, písomnej formy internej časti MS zo SJL a ústnej formy internej časti MS zo SJL pred predmetovou maturitnou komisiou, na ktorej si žiak žrebuje jedno zo schválených 30 zadaní zo slovenského jazyka a literatúry.</a:t>
            </a:r>
          </a:p>
          <a:p>
            <a:pPr marL="0" indent="0" algn="just">
              <a:buNone/>
            </a:pPr>
            <a:r>
              <a:rPr lang="sk-SK" sz="1600" b="1" dirty="0"/>
              <a:t>Povinný predmet zo skupiny cudzích jazykov – anglický, nemecký</a:t>
            </a:r>
          </a:p>
          <a:p>
            <a:pPr algn="just"/>
            <a:r>
              <a:rPr lang="sk-SK" sz="1600" dirty="0"/>
              <a:t>Maturitná skúška pozostáva z externej časti MS z cudzieho jazyka, písomnej formy internej časti MS z cudzieho jazyka a ústnej formy internej časti MS z cudzieho jazyka pred predmetovou maturitnou komisiou, na ktorej si žiak žrebuje jedno zo schválených 30 zadaní z cudzieho jazyka.</a:t>
            </a:r>
          </a:p>
          <a:p>
            <a:pPr algn="just"/>
            <a:r>
              <a:rPr lang="sk-SK" sz="1600" dirty="0"/>
              <a:t>Žiak vykoná MS z predmetu zo skupiny predmetov povinný cudzí jazyk na ním zvolenej úrovni B1 (nižšej) alebo B2 (vyššej) Spoločného európskeho referenčného rámca.</a:t>
            </a:r>
          </a:p>
          <a:p>
            <a:pPr algn="just"/>
            <a:r>
              <a:rPr lang="sk-SK" sz="1600" dirty="0"/>
              <a:t>Ústnu formu internej časti MS z dobrovoľného predmetu zo skupiny predmetov cudzí jazyk žiak vykoná na úrovni B1 alebo B2 jazykovej náročnosti Spoločného európskeho referenčného rámca.</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6</a:t>
            </a:fld>
            <a:endParaRPr lang="sk-SK"/>
          </a:p>
        </p:txBody>
      </p:sp>
      <p:sp>
        <p:nvSpPr>
          <p:cNvPr id="2" name="Nadpis 1"/>
          <p:cNvSpPr>
            <a:spLocks noGrp="1"/>
          </p:cNvSpPr>
          <p:nvPr>
            <p:ph type="title"/>
          </p:nvPr>
        </p:nvSpPr>
        <p:spPr/>
        <p:txBody>
          <a:bodyPr>
            <a:normAutofit/>
          </a:bodyPr>
          <a:lstStyle/>
          <a:p>
            <a:pPr lvl="0"/>
            <a:r>
              <a:rPr lang="sk-SK" b="1" dirty="0"/>
              <a:t>Predmety maturitnej skúšky</a:t>
            </a:r>
          </a:p>
        </p:txBody>
      </p:sp>
    </p:spTree>
    <p:extLst>
      <p:ext uri="{BB962C8B-B14F-4D97-AF65-F5344CB8AC3E}">
        <p14:creationId xmlns:p14="http://schemas.microsoft.com/office/powerpoint/2010/main" val="1119977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827584" y="2420888"/>
            <a:ext cx="7408333" cy="3450696"/>
          </a:xfrm>
        </p:spPr>
        <p:txBody>
          <a:bodyPr>
            <a:normAutofit/>
          </a:bodyPr>
          <a:lstStyle/>
          <a:p>
            <a:pPr marL="0" indent="0">
              <a:buNone/>
            </a:pPr>
            <a:r>
              <a:rPr lang="sk-SK" sz="2400" b="1" dirty="0"/>
              <a:t>Teoretická časť odbornej zložky</a:t>
            </a:r>
          </a:p>
          <a:p>
            <a:pPr algn="just"/>
            <a:r>
              <a:rPr lang="sk-SK" sz="2400" dirty="0"/>
              <a:t>V teoretickej časti odbornej zložky sa ústne overujú vedomosti žiaka zo súboru odborných predmetov podľa príslušného vzdelávacieho programu študijného odboru SOŠ, prípadne aj vo vzťahu k praktickej časti odbornej zložky pred predmetovou maturitnou komisiou. Pri ústnej forme TČOZ si žiak žrebuje jednu zo schválených 25 tém. </a:t>
            </a:r>
          </a:p>
          <a:p>
            <a:endParaRPr lang="sk-SK" dirty="0"/>
          </a:p>
        </p:txBody>
      </p:sp>
      <p:sp>
        <p:nvSpPr>
          <p:cNvPr id="5" name="Zástupný symbol čísla snímky 4"/>
          <p:cNvSpPr>
            <a:spLocks noGrp="1"/>
          </p:cNvSpPr>
          <p:nvPr>
            <p:ph type="sldNum" sz="quarter" idx="12"/>
          </p:nvPr>
        </p:nvSpPr>
        <p:spPr/>
        <p:txBody>
          <a:bodyPr/>
          <a:lstStyle/>
          <a:p>
            <a:fld id="{60ED3F64-EEEE-43E4-80C0-65816F620A91}" type="slidenum">
              <a:rPr lang="sk-SK" smtClean="0"/>
              <a:t>7</a:t>
            </a:fld>
            <a:endParaRPr lang="sk-SK"/>
          </a:p>
        </p:txBody>
      </p:sp>
      <p:sp>
        <p:nvSpPr>
          <p:cNvPr id="2" name="Nadpis 1"/>
          <p:cNvSpPr>
            <a:spLocks noGrp="1"/>
          </p:cNvSpPr>
          <p:nvPr>
            <p:ph type="title"/>
          </p:nvPr>
        </p:nvSpPr>
        <p:spPr/>
        <p:txBody>
          <a:bodyPr>
            <a:normAutofit/>
          </a:bodyPr>
          <a:lstStyle/>
          <a:p>
            <a:r>
              <a:rPr lang="sk-SK" b="1" dirty="0"/>
              <a:t>Predmety maturitnej skúšky</a:t>
            </a:r>
            <a:endParaRPr lang="sk-SK" dirty="0"/>
          </a:p>
        </p:txBody>
      </p:sp>
    </p:spTree>
    <p:extLst>
      <p:ext uri="{BB962C8B-B14F-4D97-AF65-F5344CB8AC3E}">
        <p14:creationId xmlns:p14="http://schemas.microsoft.com/office/powerpoint/2010/main" val="2278023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755576" y="2060848"/>
            <a:ext cx="7408333" cy="3450696"/>
          </a:xfrm>
        </p:spPr>
        <p:txBody>
          <a:bodyPr>
            <a:noAutofit/>
          </a:bodyPr>
          <a:lstStyle/>
          <a:p>
            <a:pPr marL="0" indent="0" algn="just">
              <a:buNone/>
            </a:pPr>
            <a:r>
              <a:rPr lang="sk-SK" b="1" dirty="0"/>
              <a:t>Praktická časť odbornej zložky</a:t>
            </a:r>
          </a:p>
          <a:p>
            <a:pPr algn="just"/>
            <a:r>
              <a:rPr lang="sk-SK" dirty="0"/>
              <a:t>Žiak obhajuje svoj vlastný projekt</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8</a:t>
            </a:fld>
            <a:endParaRPr lang="sk-SK" dirty="0"/>
          </a:p>
        </p:txBody>
      </p:sp>
      <p:sp>
        <p:nvSpPr>
          <p:cNvPr id="2" name="Nadpis 1"/>
          <p:cNvSpPr>
            <a:spLocks noGrp="1"/>
          </p:cNvSpPr>
          <p:nvPr>
            <p:ph type="title"/>
          </p:nvPr>
        </p:nvSpPr>
        <p:spPr/>
        <p:txBody>
          <a:bodyPr>
            <a:normAutofit/>
          </a:bodyPr>
          <a:lstStyle/>
          <a:p>
            <a:r>
              <a:rPr lang="sk-SK" b="1" dirty="0"/>
              <a:t>Predmety maturitnej skúšky</a:t>
            </a:r>
            <a:endParaRPr lang="sk-SK" dirty="0"/>
          </a:p>
        </p:txBody>
      </p:sp>
    </p:spTree>
    <p:extLst>
      <p:ext uri="{BB962C8B-B14F-4D97-AF65-F5344CB8AC3E}">
        <p14:creationId xmlns:p14="http://schemas.microsoft.com/office/powerpoint/2010/main" val="4206427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867833" y="2195261"/>
            <a:ext cx="7408333" cy="3450696"/>
          </a:xfrm>
        </p:spPr>
        <p:txBody>
          <a:bodyPr>
            <a:normAutofit fontScale="32500" lnSpcReduction="20000"/>
          </a:bodyPr>
          <a:lstStyle/>
          <a:p>
            <a:pPr algn="just"/>
            <a:r>
              <a:rPr lang="sk-SK" sz="4500" dirty="0"/>
              <a:t>Začiatkom septembra aktuálneho školského roka sa žiakom 4. ročníka predloží:</a:t>
            </a:r>
          </a:p>
          <a:p>
            <a:pPr marL="0" indent="0" algn="just">
              <a:buNone/>
            </a:pPr>
            <a:endParaRPr lang="sk-SK" sz="2600" dirty="0"/>
          </a:p>
          <a:p>
            <a:pPr lvl="1" algn="just"/>
            <a:r>
              <a:rPr lang="sk-SK" sz="5000" dirty="0"/>
              <a:t>Zoznam okruhov tém schválených riaditeľom školy, </a:t>
            </a:r>
          </a:p>
          <a:p>
            <a:pPr lvl="1" algn="just"/>
            <a:r>
              <a:rPr lang="sk-SK" sz="5000" dirty="0"/>
              <a:t>zoznam konzultantov z radov učiteľov odborných predmetov pre príslušné okruhy tém,</a:t>
            </a:r>
          </a:p>
          <a:p>
            <a:pPr lvl="1" algn="just"/>
            <a:r>
              <a:rPr lang="sk-SK" sz="5000" dirty="0"/>
              <a:t>forma priebehu praktickej časti odbornej zložky – obhajoba vlastného projektu.</a:t>
            </a:r>
          </a:p>
          <a:p>
            <a:pPr lvl="1" algn="just"/>
            <a:endParaRPr lang="sk-SK" sz="3400" dirty="0"/>
          </a:p>
          <a:p>
            <a:pPr lvl="1" algn="just"/>
            <a:r>
              <a:rPr lang="sk-SK" sz="4900" dirty="0"/>
              <a:t>Žiak si zvolí tému a dohodne sa s učiteľom odborných predmetov na konzultovaní príslušnej témy do 26. septembra. Žiak potvrdí tieto údaje svojím podpisom na záväznej prihláške na maturitnú skúšku najneskôr do 30. septembra aktuálneho školského roka. Prihlášku odovzdá triednemu učiteľovi.</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9</a:t>
            </a:fld>
            <a:endParaRPr lang="sk-SK"/>
          </a:p>
        </p:txBody>
      </p:sp>
      <p:sp>
        <p:nvSpPr>
          <p:cNvPr id="2" name="Nadpis 1"/>
          <p:cNvSpPr>
            <a:spLocks noGrp="1"/>
          </p:cNvSpPr>
          <p:nvPr>
            <p:ph type="title"/>
          </p:nvPr>
        </p:nvSpPr>
        <p:spPr/>
        <p:txBody>
          <a:bodyPr>
            <a:noAutofit/>
          </a:bodyPr>
          <a:lstStyle/>
          <a:p>
            <a:r>
              <a:rPr lang="sk-SK" sz="4000" b="1" dirty="0"/>
              <a:t>Pravidlá priebehu PČOZ MS v </a:t>
            </a:r>
            <a:br>
              <a:rPr lang="sk-SK" sz="4000" b="1" dirty="0"/>
            </a:br>
            <a:r>
              <a:rPr lang="sk-SK" sz="4000" b="1" dirty="0"/>
              <a:t>SPŠE </a:t>
            </a:r>
            <a:r>
              <a:rPr lang="sk-SK" sz="4000" b="1" dirty="0" err="1"/>
              <a:t>Hálova</a:t>
            </a:r>
            <a:endParaRPr lang="sk-SK" sz="4000" b="1" dirty="0"/>
          </a:p>
        </p:txBody>
      </p:sp>
    </p:spTree>
    <p:extLst>
      <p:ext uri="{BB962C8B-B14F-4D97-AF65-F5344CB8AC3E}">
        <p14:creationId xmlns:p14="http://schemas.microsoft.com/office/powerpoint/2010/main" val="1786117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827584" y="1916832"/>
            <a:ext cx="7408333" cy="3450696"/>
          </a:xfrm>
        </p:spPr>
        <p:txBody>
          <a:bodyPr>
            <a:noAutofit/>
          </a:bodyPr>
          <a:lstStyle/>
          <a:p>
            <a:pPr algn="just"/>
            <a:endParaRPr lang="sk-SK" sz="1800" dirty="0"/>
          </a:p>
          <a:p>
            <a:pPr algn="just"/>
            <a:r>
              <a:rPr lang="sk-SK" sz="1800" dirty="0"/>
              <a:t>Do 15. októbra daného školského roka odovzdá príslušný konzultant žiakovi konkrétne zadanie maturitného projektu aj s kritériami hodnotenia praktickej časti odbornej zložky, ktoré je schválené riaditeľom školy.</a:t>
            </a:r>
          </a:p>
          <a:p>
            <a:pPr algn="just"/>
            <a:endParaRPr lang="sk-SK" sz="1800" dirty="0"/>
          </a:p>
          <a:p>
            <a:pPr algn="just"/>
            <a:r>
              <a:rPr lang="sk-SK" sz="1800" dirty="0"/>
              <a:t>Pri tvorbe maturitného projektu sa žiak riadi radami konzultanta. Zhotovovanie výrobku v dielňach a laboratóriách SPŠE žiak realizuje pod dozorom konzultanta zásadne v čase mimo vyučovania. </a:t>
            </a:r>
          </a:p>
          <a:p>
            <a:pPr algn="just"/>
            <a:endParaRPr lang="sk-SK" sz="1800" dirty="0"/>
          </a:p>
          <a:p>
            <a:pPr algn="just"/>
            <a:r>
              <a:rPr lang="sk-SK" sz="1800" dirty="0"/>
              <a:t>Žiak vypracuje písomnú časť jazykovo a štylisticky správne, podľa pravidiel požadovaných SPŠE, pričom použije predpísanú šablónu a dodrží primeraný rozsah minimálne 20 strán bez príloh. Písomná časť projektu musí byť vhodným spôsobom zviazaná. K obhajobe pred PMK si žiak pripraví prezentáciu v elektronickej forme.</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10</a:t>
            </a:fld>
            <a:endParaRPr lang="sk-SK"/>
          </a:p>
        </p:txBody>
      </p:sp>
      <p:sp>
        <p:nvSpPr>
          <p:cNvPr id="2" name="Nadpis 1"/>
          <p:cNvSpPr>
            <a:spLocks noGrp="1"/>
          </p:cNvSpPr>
          <p:nvPr>
            <p:ph type="title"/>
          </p:nvPr>
        </p:nvSpPr>
        <p:spPr/>
        <p:txBody>
          <a:bodyPr>
            <a:noAutofit/>
          </a:bodyPr>
          <a:lstStyle/>
          <a:p>
            <a:r>
              <a:rPr lang="sk-SK" sz="4000" b="1" dirty="0"/>
              <a:t>Pravidlá priebehu PČOZ MS na </a:t>
            </a:r>
            <a:br>
              <a:rPr lang="sk-SK" sz="4000" b="1" dirty="0"/>
            </a:br>
            <a:r>
              <a:rPr lang="sk-SK" sz="4000" b="1" dirty="0"/>
              <a:t>SPŠE </a:t>
            </a:r>
            <a:r>
              <a:rPr lang="sk-SK" sz="4000" b="1" dirty="0" err="1"/>
              <a:t>Hálova</a:t>
            </a:r>
            <a:endParaRPr lang="sk-SK" sz="4000" b="1" dirty="0"/>
          </a:p>
        </p:txBody>
      </p:sp>
    </p:spTree>
    <p:extLst>
      <p:ext uri="{BB962C8B-B14F-4D97-AF65-F5344CB8AC3E}">
        <p14:creationId xmlns:p14="http://schemas.microsoft.com/office/powerpoint/2010/main" val="4002118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a:xfrm>
            <a:off x="611560" y="2420888"/>
            <a:ext cx="7776864" cy="3882744"/>
          </a:xfrm>
        </p:spPr>
        <p:txBody>
          <a:bodyPr>
            <a:noAutofit/>
          </a:bodyPr>
          <a:lstStyle/>
          <a:p>
            <a:pPr algn="just"/>
            <a:r>
              <a:rPr lang="sk-SK" sz="1800" dirty="0"/>
              <a:t>Žiak má možnosť konzultácií v predmete RPJ( pondelok 8. a 9. vyuč. hodinu)</a:t>
            </a:r>
          </a:p>
          <a:p>
            <a:pPr algn="just"/>
            <a:r>
              <a:rPr lang="sk-SK" sz="1800" dirty="0"/>
              <a:t>Záväzný termín odovzdania maturitných projektov žiakmi (</a:t>
            </a:r>
            <a:r>
              <a:rPr lang="sk-SK" sz="1800" b="1" dirty="0"/>
              <a:t> marec 2024</a:t>
            </a:r>
            <a:r>
              <a:rPr lang="sk-SK" sz="1800" dirty="0"/>
              <a:t>) je stanovený v zadaní praktickej časti maturitnej skúšky. Žiak odovzdá príslušnému konzultantovi:</a:t>
            </a:r>
          </a:p>
          <a:p>
            <a:pPr lvl="1" algn="just"/>
            <a:r>
              <a:rPr lang="sk-SK" sz="1800" b="1" dirty="0"/>
              <a:t>zviazanú písomnú časť, ktorej súčasťou je zadanie,</a:t>
            </a:r>
            <a:endParaRPr lang="sk-SK" sz="1800" dirty="0"/>
          </a:p>
          <a:p>
            <a:pPr lvl="1" algn="just"/>
            <a:r>
              <a:rPr lang="sk-SK" sz="1800" b="1" dirty="0"/>
              <a:t>produkt (výrobok, DVD,...) .</a:t>
            </a:r>
            <a:endParaRPr lang="sk-SK" sz="1800" dirty="0"/>
          </a:p>
          <a:p>
            <a:pPr algn="just"/>
            <a:r>
              <a:rPr lang="sk-SK" sz="1800" b="1" dirty="0"/>
              <a:t>Nedodržanie termínu </a:t>
            </a:r>
            <a:r>
              <a:rPr lang="sk-SK" sz="1800" dirty="0"/>
              <a:t>odovzdania projektu je považované za </a:t>
            </a:r>
            <a:r>
              <a:rPr lang="sk-SK" sz="1800" b="1" dirty="0"/>
              <a:t>neúspešné absolvovanie maturitnej skúšky z praktickej časti odbornej zložky</a:t>
            </a:r>
            <a:r>
              <a:rPr lang="sk-SK" sz="1800" dirty="0"/>
              <a:t>.</a:t>
            </a:r>
          </a:p>
          <a:p>
            <a:pPr algn="just"/>
            <a:r>
              <a:rPr lang="sk-SK" sz="1800" dirty="0"/>
              <a:t>Konzultant, ako jeden z členov predmetovej maturitnej komisie pre PČOZ, pripraví hodnotenie prvých dvoch častí projektu v hodnotiacej tabuľke ešte pred obhajobou pred PMK. </a:t>
            </a:r>
          </a:p>
          <a:p>
            <a:endParaRPr lang="sk-SK" sz="1800" dirty="0"/>
          </a:p>
        </p:txBody>
      </p:sp>
      <p:sp>
        <p:nvSpPr>
          <p:cNvPr id="5" name="Zástupný symbol čísla snímky 4"/>
          <p:cNvSpPr>
            <a:spLocks noGrp="1"/>
          </p:cNvSpPr>
          <p:nvPr>
            <p:ph type="sldNum" sz="quarter" idx="12"/>
          </p:nvPr>
        </p:nvSpPr>
        <p:spPr/>
        <p:txBody>
          <a:bodyPr/>
          <a:lstStyle/>
          <a:p>
            <a:fld id="{60ED3F64-EEEE-43E4-80C0-65816F620A91}" type="slidenum">
              <a:rPr lang="sk-SK" smtClean="0"/>
              <a:t>11</a:t>
            </a:fld>
            <a:endParaRPr lang="sk-SK"/>
          </a:p>
        </p:txBody>
      </p:sp>
      <p:sp>
        <p:nvSpPr>
          <p:cNvPr id="2" name="Nadpis 1"/>
          <p:cNvSpPr>
            <a:spLocks noGrp="1"/>
          </p:cNvSpPr>
          <p:nvPr>
            <p:ph type="title"/>
          </p:nvPr>
        </p:nvSpPr>
        <p:spPr/>
        <p:txBody>
          <a:bodyPr>
            <a:normAutofit fontScale="90000"/>
          </a:bodyPr>
          <a:lstStyle/>
          <a:p>
            <a:r>
              <a:rPr lang="sk-SK" b="1" dirty="0"/>
              <a:t>Pravidlá priebehu PČOZ MS na </a:t>
            </a:r>
            <a:br>
              <a:rPr lang="sk-SK" b="1" dirty="0"/>
            </a:br>
            <a:r>
              <a:rPr lang="sk-SK" b="1" dirty="0"/>
              <a:t>SPŠE </a:t>
            </a:r>
            <a:r>
              <a:rPr lang="sk-SK" b="1" dirty="0" err="1"/>
              <a:t>Hálova</a:t>
            </a:r>
            <a:endParaRPr lang="sk-SK" dirty="0"/>
          </a:p>
        </p:txBody>
      </p:sp>
    </p:spTree>
    <p:extLst>
      <p:ext uri="{BB962C8B-B14F-4D97-AF65-F5344CB8AC3E}">
        <p14:creationId xmlns:p14="http://schemas.microsoft.com/office/powerpoint/2010/main" val="1095621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fontScale="85000" lnSpcReduction="20000"/>
          </a:bodyPr>
          <a:lstStyle/>
          <a:p>
            <a:pPr algn="just"/>
            <a:r>
              <a:rPr lang="sk-SK" dirty="0"/>
              <a:t>Žiak môže konať  v riadnom skúšobnom období dobrovoľne maturitnú skúšku najviac z dvoch predmetov – vykonaním dobrovoľnej MS sa rozumie absolvovanie len externej časti MS alebo len internej časti MS.</a:t>
            </a:r>
          </a:p>
          <a:p>
            <a:pPr algn="just"/>
            <a:r>
              <a:rPr lang="sk-SK" dirty="0"/>
              <a:t>Dobrovoľne môže konať MS zo všetkých predmetov učebného plánu školského vzdelávacieho programu okrem povinných maturitných a výchovných predmetov.</a:t>
            </a:r>
          </a:p>
          <a:p>
            <a:pPr algn="just"/>
            <a:r>
              <a:rPr lang="sk-SK" dirty="0"/>
              <a:t>Dobrovoľnú maturitnú skúšku v SOŠ môže žiak konať napr. z predmetov matematika, fyzika, ústna forma internej časti MS z druhého cudzieho jazyka atď.</a:t>
            </a:r>
          </a:p>
          <a:p>
            <a:pPr algn="just"/>
            <a:r>
              <a:rPr lang="sk-SK" dirty="0"/>
              <a:t>Ak žiak neuspel na MS z dobrovoľného predmetu maturitnej skúšky, táto skutočnosť nemá vplyv na úspešné vykonanie MS a na vysvedčení o maturitnej skúške sa neuvádza.</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12</a:t>
            </a:fld>
            <a:endParaRPr lang="sk-SK"/>
          </a:p>
        </p:txBody>
      </p:sp>
      <p:sp>
        <p:nvSpPr>
          <p:cNvPr id="2" name="Nadpis 1"/>
          <p:cNvSpPr>
            <a:spLocks noGrp="1"/>
          </p:cNvSpPr>
          <p:nvPr>
            <p:ph type="title"/>
          </p:nvPr>
        </p:nvSpPr>
        <p:spPr/>
        <p:txBody>
          <a:bodyPr>
            <a:normAutofit/>
          </a:bodyPr>
          <a:lstStyle/>
          <a:p>
            <a:r>
              <a:rPr lang="sk-SK" b="1" dirty="0"/>
              <a:t>Dobrovoľná maturitná skúška</a:t>
            </a:r>
            <a:endParaRPr lang="sk-SK" dirty="0"/>
          </a:p>
        </p:txBody>
      </p:sp>
    </p:spTree>
    <p:extLst>
      <p:ext uri="{BB962C8B-B14F-4D97-AF65-F5344CB8AC3E}">
        <p14:creationId xmlns:p14="http://schemas.microsoft.com/office/powerpoint/2010/main" val="3863921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fontScale="92500" lnSpcReduction="20000"/>
          </a:bodyPr>
          <a:lstStyle/>
          <a:p>
            <a:pPr marL="0" lvl="0" indent="0" algn="just">
              <a:buNone/>
            </a:pPr>
            <a:r>
              <a:rPr lang="sk-SK" dirty="0"/>
              <a:t>Žiak úspešne vykoná MS z predmetu, </a:t>
            </a:r>
            <a:r>
              <a:rPr lang="sk-SK" b="1" u="sng" dirty="0">
                <a:solidFill>
                  <a:srgbClr val="FF0000"/>
                </a:solidFill>
              </a:rPr>
              <a:t>ktorý má externú časť MS a písomnú formu </a:t>
            </a:r>
            <a:r>
              <a:rPr lang="sk-SK" dirty="0"/>
              <a:t>internej časti MS, ak jeho hodnotenie z ústnej formy internej časti MS</a:t>
            </a:r>
          </a:p>
          <a:p>
            <a:pPr lvl="0" algn="just"/>
            <a:r>
              <a:rPr lang="sk-SK" b="1" dirty="0"/>
              <a:t>nie je horšie ako stupeň prospechu 3 – dobrý </a:t>
            </a:r>
            <a:r>
              <a:rPr lang="sk-SK" dirty="0"/>
              <a:t>a v písomnej forme internej časti MS získa viac ako 25 % z celkového počtu bodov  </a:t>
            </a:r>
            <a:r>
              <a:rPr lang="sk-SK" dirty="0">
                <a:solidFill>
                  <a:srgbClr val="FF0000"/>
                </a:solidFill>
              </a:rPr>
              <a:t>alebo </a:t>
            </a:r>
            <a:r>
              <a:rPr lang="sk-SK" dirty="0"/>
              <a:t>v externej časti získa viac ako 33 % z celkového počtu bodov, alebo</a:t>
            </a:r>
          </a:p>
          <a:p>
            <a:pPr lvl="0" algn="just"/>
            <a:r>
              <a:rPr lang="sk-SK" b="1" dirty="0"/>
              <a:t>je stupeň prospechu 4  - dostatočný </a:t>
            </a:r>
            <a:r>
              <a:rPr lang="sk-SK" dirty="0"/>
              <a:t>a v písomnej forme internej časti MS získa viac ako 25 % z celkového počtu bodov </a:t>
            </a:r>
            <a:r>
              <a:rPr lang="sk-SK" dirty="0">
                <a:solidFill>
                  <a:srgbClr val="FF0000"/>
                </a:solidFill>
              </a:rPr>
              <a:t>a</a:t>
            </a:r>
            <a:r>
              <a:rPr lang="sk-SK" dirty="0"/>
              <a:t> súčasne v externej časti  MS získa viac ako 33 % z celkového počtu bodov.</a:t>
            </a:r>
          </a:p>
          <a:p>
            <a:endParaRPr lang="sk-SK" dirty="0"/>
          </a:p>
        </p:txBody>
      </p:sp>
      <p:sp>
        <p:nvSpPr>
          <p:cNvPr id="5" name="Zástupný symbol čísla snímky 4"/>
          <p:cNvSpPr>
            <a:spLocks noGrp="1"/>
          </p:cNvSpPr>
          <p:nvPr>
            <p:ph type="sldNum" sz="quarter" idx="12"/>
          </p:nvPr>
        </p:nvSpPr>
        <p:spPr/>
        <p:txBody>
          <a:bodyPr/>
          <a:lstStyle/>
          <a:p>
            <a:fld id="{60ED3F64-EEEE-43E4-80C0-65816F620A91}" type="slidenum">
              <a:rPr lang="sk-SK" smtClean="0"/>
              <a:t>13</a:t>
            </a:fld>
            <a:endParaRPr lang="sk-SK"/>
          </a:p>
        </p:txBody>
      </p:sp>
      <p:sp>
        <p:nvSpPr>
          <p:cNvPr id="2" name="Nadpis 1"/>
          <p:cNvSpPr>
            <a:spLocks noGrp="1"/>
          </p:cNvSpPr>
          <p:nvPr>
            <p:ph type="title"/>
          </p:nvPr>
        </p:nvSpPr>
        <p:spPr/>
        <p:txBody>
          <a:bodyPr>
            <a:normAutofit fontScale="90000"/>
          </a:bodyPr>
          <a:lstStyle/>
          <a:p>
            <a:r>
              <a:rPr lang="pl-PL" b="1" dirty="0"/>
              <a:t>Hodnotenie a klasifikácia maturitnej skúšky</a:t>
            </a:r>
            <a:endParaRPr lang="sk-SK" dirty="0"/>
          </a:p>
        </p:txBody>
      </p:sp>
    </p:spTree>
    <p:extLst>
      <p:ext uri="{BB962C8B-B14F-4D97-AF65-F5344CB8AC3E}">
        <p14:creationId xmlns:p14="http://schemas.microsoft.com/office/powerpoint/2010/main" val="1997267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fontScale="92500"/>
          </a:bodyPr>
          <a:lstStyle/>
          <a:p>
            <a:pPr marL="0" lvl="0" indent="0" algn="just">
              <a:buNone/>
            </a:pPr>
            <a:r>
              <a:rPr lang="sk-SK" dirty="0"/>
              <a:t>Žiak úspešne vykoná MS z predmetu, </a:t>
            </a:r>
            <a:r>
              <a:rPr lang="sk-SK" b="1" u="sng" dirty="0">
                <a:solidFill>
                  <a:srgbClr val="FF0000"/>
                </a:solidFill>
              </a:rPr>
              <a:t>ktorý má EČ MS a nemá PFIČ MS</a:t>
            </a:r>
            <a:r>
              <a:rPr lang="sk-SK" dirty="0"/>
              <a:t>, ak jeho hodnotenie z ústnej formy internej časti MS</a:t>
            </a:r>
          </a:p>
          <a:p>
            <a:pPr marL="0" indent="0" algn="just">
              <a:buNone/>
            </a:pPr>
            <a:endParaRPr lang="sk-SK" dirty="0"/>
          </a:p>
          <a:p>
            <a:pPr lvl="0" algn="just"/>
            <a:r>
              <a:rPr lang="sk-SK" b="1" dirty="0"/>
              <a:t>nie je horšie ako stupeň prospechu 3 – dobrý  a v EČ MS získa viac ako 25 % z celkového počtu bodov, alebo</a:t>
            </a:r>
            <a:endParaRPr lang="sk-SK" dirty="0"/>
          </a:p>
          <a:p>
            <a:pPr lvl="0" algn="just"/>
            <a:r>
              <a:rPr lang="sk-SK" b="1" dirty="0"/>
              <a:t>je stupeň prospechu 4  </a:t>
            </a:r>
            <a:r>
              <a:rPr lang="sk-SK" dirty="0"/>
              <a:t>- dostatočný a v EČ MS získa viac ako 33 % z celkového počtu bodov.</a:t>
            </a:r>
          </a:p>
          <a:p>
            <a:pPr marL="0" indent="0">
              <a:buNone/>
            </a:pPr>
            <a:r>
              <a:rPr lang="sk-SK" dirty="0"/>
              <a:t> </a:t>
            </a:r>
          </a:p>
          <a:p>
            <a:endParaRPr lang="sk-SK" dirty="0"/>
          </a:p>
        </p:txBody>
      </p:sp>
      <p:sp>
        <p:nvSpPr>
          <p:cNvPr id="5" name="Zástupný symbol čísla snímky 4"/>
          <p:cNvSpPr>
            <a:spLocks noGrp="1"/>
          </p:cNvSpPr>
          <p:nvPr>
            <p:ph type="sldNum" sz="quarter" idx="12"/>
          </p:nvPr>
        </p:nvSpPr>
        <p:spPr/>
        <p:txBody>
          <a:bodyPr/>
          <a:lstStyle/>
          <a:p>
            <a:fld id="{60ED3F64-EEEE-43E4-80C0-65816F620A91}" type="slidenum">
              <a:rPr lang="sk-SK" smtClean="0"/>
              <a:t>14</a:t>
            </a:fld>
            <a:endParaRPr lang="sk-SK"/>
          </a:p>
        </p:txBody>
      </p:sp>
      <p:sp>
        <p:nvSpPr>
          <p:cNvPr id="2" name="Nadpis 1"/>
          <p:cNvSpPr>
            <a:spLocks noGrp="1"/>
          </p:cNvSpPr>
          <p:nvPr>
            <p:ph type="title"/>
          </p:nvPr>
        </p:nvSpPr>
        <p:spPr/>
        <p:txBody>
          <a:bodyPr>
            <a:normAutofit fontScale="90000"/>
          </a:bodyPr>
          <a:lstStyle/>
          <a:p>
            <a:r>
              <a:rPr lang="pl-PL" b="1" dirty="0"/>
              <a:t>Hodnotenie a klasifikácia maturitnej skúšky</a:t>
            </a:r>
            <a:endParaRPr lang="sk-SK" dirty="0"/>
          </a:p>
        </p:txBody>
      </p:sp>
    </p:spTree>
    <p:extLst>
      <p:ext uri="{BB962C8B-B14F-4D97-AF65-F5344CB8AC3E}">
        <p14:creationId xmlns:p14="http://schemas.microsoft.com/office/powerpoint/2010/main" val="186832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fontScale="77500" lnSpcReduction="20000"/>
          </a:bodyPr>
          <a:lstStyle/>
          <a:p>
            <a:pPr marL="0" lvl="0" indent="0" algn="just">
              <a:buNone/>
            </a:pPr>
            <a:r>
              <a:rPr lang="sk-SK" dirty="0"/>
              <a:t>Žiak úspešne vykoná maturitnú skúšku z predmetu, </a:t>
            </a:r>
            <a:r>
              <a:rPr lang="sk-SK" b="1" u="sng" dirty="0">
                <a:solidFill>
                  <a:srgbClr val="FF0000"/>
                </a:solidFill>
              </a:rPr>
              <a:t>ktorý nemá EČ MS a nemá PFIČ MS</a:t>
            </a:r>
            <a:r>
              <a:rPr lang="sk-SK" dirty="0"/>
              <a:t>, ak jeho hodnotenie z ústnej formy internej časti MS nie je horšie ako 4 – dostatočný.</a:t>
            </a:r>
          </a:p>
          <a:p>
            <a:pPr marL="0" indent="0" algn="just">
              <a:buNone/>
            </a:pPr>
            <a:endParaRPr lang="sk-SK" dirty="0"/>
          </a:p>
          <a:p>
            <a:pPr marL="0" indent="0" algn="just">
              <a:buNone/>
            </a:pPr>
            <a:r>
              <a:rPr lang="sk-SK" dirty="0"/>
              <a:t>Žiak úspešne vykoná externú časť MS </a:t>
            </a:r>
            <a:r>
              <a:rPr lang="sk-SK" b="1" dirty="0"/>
              <a:t>z dobrovoľného predmetu</a:t>
            </a:r>
            <a:r>
              <a:rPr lang="sk-SK" dirty="0"/>
              <a:t>, ak v nej získa viac ako 33 % z celkového počtu bodov.</a:t>
            </a:r>
          </a:p>
          <a:p>
            <a:pPr marL="0" indent="0" algn="just">
              <a:buNone/>
            </a:pPr>
            <a:r>
              <a:rPr lang="sk-SK" dirty="0"/>
              <a:t> </a:t>
            </a:r>
          </a:p>
          <a:p>
            <a:pPr marL="0" lvl="0" indent="0" algn="just">
              <a:buNone/>
            </a:pPr>
            <a:r>
              <a:rPr lang="sk-SK" dirty="0"/>
              <a:t>Žiak úspešne vykonal maturitnú skúšku, ak úspešne vykonal maturitnú skúšku zo všetkých predmetov MS.</a:t>
            </a:r>
          </a:p>
          <a:p>
            <a:pPr marL="0" indent="0" algn="just">
              <a:buNone/>
            </a:pPr>
            <a:r>
              <a:rPr lang="sk-SK" dirty="0"/>
              <a:t> </a:t>
            </a:r>
          </a:p>
          <a:p>
            <a:pPr marL="0" lvl="0" indent="0" algn="just">
              <a:buNone/>
            </a:pPr>
            <a:r>
              <a:rPr lang="sk-SK" dirty="0"/>
              <a:t>Ak žiak neuspel na MS z dobrovoľného predmetu maturitnej skúšky, táto skutočnosť nemá vplyv na úspešné vykonanie MS a na vysvedčení o maturitnej skúške sa neuvádza.</a:t>
            </a:r>
          </a:p>
          <a:p>
            <a:endParaRPr lang="sk-SK" dirty="0"/>
          </a:p>
        </p:txBody>
      </p:sp>
      <p:sp>
        <p:nvSpPr>
          <p:cNvPr id="5" name="Zástupný symbol čísla snímky 4"/>
          <p:cNvSpPr>
            <a:spLocks noGrp="1"/>
          </p:cNvSpPr>
          <p:nvPr>
            <p:ph type="sldNum" sz="quarter" idx="12"/>
          </p:nvPr>
        </p:nvSpPr>
        <p:spPr/>
        <p:txBody>
          <a:bodyPr/>
          <a:lstStyle/>
          <a:p>
            <a:fld id="{60ED3F64-EEEE-43E4-80C0-65816F620A91}" type="slidenum">
              <a:rPr lang="sk-SK" smtClean="0"/>
              <a:t>15</a:t>
            </a:fld>
            <a:endParaRPr lang="sk-SK"/>
          </a:p>
        </p:txBody>
      </p:sp>
      <p:sp>
        <p:nvSpPr>
          <p:cNvPr id="2" name="Nadpis 1"/>
          <p:cNvSpPr>
            <a:spLocks noGrp="1"/>
          </p:cNvSpPr>
          <p:nvPr>
            <p:ph type="title"/>
          </p:nvPr>
        </p:nvSpPr>
        <p:spPr/>
        <p:txBody>
          <a:bodyPr>
            <a:normAutofit fontScale="90000"/>
          </a:bodyPr>
          <a:lstStyle/>
          <a:p>
            <a:r>
              <a:rPr lang="pl-PL" b="1" dirty="0"/>
              <a:t>Hodnotenie a klasifikácia maturitnej skúšky</a:t>
            </a:r>
            <a:endParaRPr lang="sk-SK" dirty="0"/>
          </a:p>
        </p:txBody>
      </p:sp>
    </p:spTree>
    <p:extLst>
      <p:ext uri="{BB962C8B-B14F-4D97-AF65-F5344CB8AC3E}">
        <p14:creationId xmlns:p14="http://schemas.microsoft.com/office/powerpoint/2010/main" val="2546814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obsahu 2"/>
          <p:cNvSpPr>
            <a:spLocks noGrp="1"/>
          </p:cNvSpPr>
          <p:nvPr>
            <p:ph idx="1"/>
          </p:nvPr>
        </p:nvSpPr>
        <p:spPr/>
        <p:txBody>
          <a:bodyPr>
            <a:normAutofit/>
          </a:bodyPr>
          <a:lstStyle/>
          <a:p>
            <a:pPr marL="0" indent="0" algn="just">
              <a:buNone/>
            </a:pPr>
            <a:r>
              <a:rPr lang="sk-SK" dirty="0"/>
              <a:t>Informácie o maturitných skúškach, platnú legislatívu k ukončovaniu štúdia na SŠ, cieľové požiadavky na MS z jednotlivých predmetov nájdete na webových stránkach:</a:t>
            </a:r>
          </a:p>
          <a:p>
            <a:r>
              <a:rPr lang="sk-SK" dirty="0"/>
              <a:t>https://www2.nucem.sk/sk/merania/narodne-merania/maturita/roky/2025-2026</a:t>
            </a:r>
          </a:p>
        </p:txBody>
      </p:sp>
      <p:sp>
        <p:nvSpPr>
          <p:cNvPr id="5" name="Zástupný symbol čísla snímky 4"/>
          <p:cNvSpPr>
            <a:spLocks noGrp="1"/>
          </p:cNvSpPr>
          <p:nvPr>
            <p:ph type="sldNum" sz="quarter" idx="12"/>
          </p:nvPr>
        </p:nvSpPr>
        <p:spPr/>
        <p:txBody>
          <a:bodyPr/>
          <a:lstStyle/>
          <a:p>
            <a:fld id="{60ED3F64-EEEE-43E4-80C0-65816F620A91}" type="slidenum">
              <a:rPr lang="sk-SK" smtClean="0"/>
              <a:t>16</a:t>
            </a:fld>
            <a:endParaRPr lang="sk-SK"/>
          </a:p>
        </p:txBody>
      </p:sp>
      <p:sp>
        <p:nvSpPr>
          <p:cNvPr id="2" name="Nadpis 1"/>
          <p:cNvSpPr>
            <a:spLocks noGrp="1"/>
          </p:cNvSpPr>
          <p:nvPr>
            <p:ph type="title"/>
          </p:nvPr>
        </p:nvSpPr>
        <p:spPr/>
        <p:txBody>
          <a:bodyPr>
            <a:normAutofit fontScale="90000"/>
          </a:bodyPr>
          <a:lstStyle/>
          <a:p>
            <a:r>
              <a:rPr lang="sk-SK" b="1" dirty="0"/>
              <a:t>Informácie o maturitných skúškach</a:t>
            </a:r>
          </a:p>
        </p:txBody>
      </p:sp>
    </p:spTree>
    <p:extLst>
      <p:ext uri="{BB962C8B-B14F-4D97-AF65-F5344CB8AC3E}">
        <p14:creationId xmlns:p14="http://schemas.microsoft.com/office/powerpoint/2010/main" val="395579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obsahu 1"/>
          <p:cNvSpPr>
            <a:spLocks noGrp="1"/>
          </p:cNvSpPr>
          <p:nvPr>
            <p:ph idx="1"/>
          </p:nvPr>
        </p:nvSpPr>
        <p:spPr>
          <a:xfrm>
            <a:off x="899592" y="2276872"/>
            <a:ext cx="7380808" cy="3849291"/>
          </a:xfrm>
        </p:spPr>
        <p:txBody>
          <a:bodyPr>
            <a:normAutofit lnSpcReduction="10000"/>
          </a:bodyPr>
          <a:lstStyle/>
          <a:p>
            <a:r>
              <a:rPr lang="sk-SK" sz="1900" b="1" dirty="0">
                <a:solidFill>
                  <a:srgbClr val="FF0000"/>
                </a:solidFill>
              </a:rPr>
              <a:t>30. 09. 202</a:t>
            </a:r>
            <a:r>
              <a:rPr lang="en-US" sz="1900" b="1" dirty="0">
                <a:solidFill>
                  <a:srgbClr val="FF0000"/>
                </a:solidFill>
              </a:rPr>
              <a:t>5</a:t>
            </a:r>
            <a:r>
              <a:rPr lang="sk-SK" sz="1900" dirty="0">
                <a:solidFill>
                  <a:srgbClr val="FF0000"/>
                </a:solidFill>
              </a:rPr>
              <a:t> </a:t>
            </a:r>
            <a:r>
              <a:rPr lang="sk-SK" dirty="0"/>
              <a:t>– </a:t>
            </a:r>
            <a:r>
              <a:rPr lang="sk-SK" sz="1900" b="1" dirty="0"/>
              <a:t>záväzná prihláška na MS 2026</a:t>
            </a:r>
          </a:p>
          <a:p>
            <a:r>
              <a:rPr lang="sk-SK" sz="1900" b="1" dirty="0">
                <a:solidFill>
                  <a:srgbClr val="FF0000"/>
                </a:solidFill>
              </a:rPr>
              <a:t>16. 09. 202</a:t>
            </a:r>
            <a:r>
              <a:rPr lang="en-US" sz="1900" b="1" dirty="0">
                <a:solidFill>
                  <a:srgbClr val="FF0000"/>
                </a:solidFill>
              </a:rPr>
              <a:t>5</a:t>
            </a:r>
            <a:r>
              <a:rPr lang="sk-SK" sz="1900" b="1" dirty="0">
                <a:solidFill>
                  <a:srgbClr val="FF0000"/>
                </a:solidFill>
              </a:rPr>
              <a:t> </a:t>
            </a:r>
            <a:r>
              <a:rPr lang="sk-SK" sz="1900" b="1" dirty="0"/>
              <a:t>– žiak si vyberie tému a konzultanta na PČOZ MS</a:t>
            </a:r>
          </a:p>
          <a:p>
            <a:r>
              <a:rPr lang="sk-SK" sz="1900" b="1" dirty="0">
                <a:solidFill>
                  <a:srgbClr val="FF0000"/>
                </a:solidFill>
              </a:rPr>
              <a:t>15. 10. 202</a:t>
            </a:r>
            <a:r>
              <a:rPr lang="en-US" sz="1900" b="1" dirty="0">
                <a:solidFill>
                  <a:srgbClr val="FF0000"/>
                </a:solidFill>
              </a:rPr>
              <a:t>5</a:t>
            </a:r>
            <a:r>
              <a:rPr lang="sk-SK" sz="1900" b="1" dirty="0">
                <a:solidFill>
                  <a:srgbClr val="FF0000"/>
                </a:solidFill>
              </a:rPr>
              <a:t> </a:t>
            </a:r>
            <a:r>
              <a:rPr lang="sk-SK" sz="1900" b="1" dirty="0"/>
              <a:t>– konzultant odovzdá žiakovi zadanie na PČOZ</a:t>
            </a:r>
          </a:p>
          <a:p>
            <a:r>
              <a:rPr lang="sk-SK" sz="1900" b="1" dirty="0">
                <a:solidFill>
                  <a:srgbClr val="FF0000"/>
                </a:solidFill>
              </a:rPr>
              <a:t>1</a:t>
            </a:r>
            <a:r>
              <a:rPr lang="en-US" sz="1900" b="1" dirty="0">
                <a:solidFill>
                  <a:srgbClr val="FF0000"/>
                </a:solidFill>
              </a:rPr>
              <a:t>0</a:t>
            </a:r>
            <a:r>
              <a:rPr lang="sk-SK" sz="1900" b="1" dirty="0">
                <a:solidFill>
                  <a:srgbClr val="FF0000"/>
                </a:solidFill>
              </a:rPr>
              <a:t>. 03. 202</a:t>
            </a:r>
            <a:r>
              <a:rPr lang="en-US" sz="1900" b="1" dirty="0">
                <a:solidFill>
                  <a:srgbClr val="FF0000"/>
                </a:solidFill>
              </a:rPr>
              <a:t>6</a:t>
            </a:r>
            <a:r>
              <a:rPr lang="sk-SK" sz="1900" b="1" dirty="0">
                <a:solidFill>
                  <a:srgbClr val="FF0000"/>
                </a:solidFill>
              </a:rPr>
              <a:t> </a:t>
            </a:r>
            <a:r>
              <a:rPr lang="sk-SK" sz="1900" b="1" dirty="0"/>
              <a:t>– EČ a PFIČ MS zo slovenského jazyka a literatúry</a:t>
            </a:r>
          </a:p>
          <a:p>
            <a:r>
              <a:rPr lang="sk-SK" sz="1900" b="1" dirty="0">
                <a:solidFill>
                  <a:srgbClr val="FF0000"/>
                </a:solidFill>
              </a:rPr>
              <a:t>1</a:t>
            </a:r>
            <a:r>
              <a:rPr lang="en-US" sz="1900" b="1" dirty="0">
                <a:solidFill>
                  <a:srgbClr val="FF0000"/>
                </a:solidFill>
              </a:rPr>
              <a:t>1</a:t>
            </a:r>
            <a:r>
              <a:rPr lang="sk-SK" sz="1900" b="1" dirty="0">
                <a:solidFill>
                  <a:srgbClr val="FF0000"/>
                </a:solidFill>
              </a:rPr>
              <a:t>. 03. 202</a:t>
            </a:r>
            <a:r>
              <a:rPr lang="en-US" sz="1900" b="1" dirty="0">
                <a:solidFill>
                  <a:srgbClr val="FF0000"/>
                </a:solidFill>
              </a:rPr>
              <a:t>6</a:t>
            </a:r>
            <a:r>
              <a:rPr lang="sk-SK" sz="1900" b="1" dirty="0">
                <a:solidFill>
                  <a:srgbClr val="FF0000"/>
                </a:solidFill>
              </a:rPr>
              <a:t> </a:t>
            </a:r>
            <a:r>
              <a:rPr lang="sk-SK" sz="1900" b="1" dirty="0"/>
              <a:t>– EČ a PFIČ MS z anglického jazyka</a:t>
            </a:r>
          </a:p>
          <a:p>
            <a:r>
              <a:rPr lang="sk-SK" sz="1900" b="1" dirty="0">
                <a:solidFill>
                  <a:srgbClr val="FF0000"/>
                </a:solidFill>
              </a:rPr>
              <a:t>1</a:t>
            </a:r>
            <a:r>
              <a:rPr lang="en-US" sz="1900" b="1" dirty="0">
                <a:solidFill>
                  <a:srgbClr val="FF0000"/>
                </a:solidFill>
              </a:rPr>
              <a:t>2</a:t>
            </a:r>
            <a:r>
              <a:rPr lang="sk-SK" sz="1900" b="1" dirty="0">
                <a:solidFill>
                  <a:srgbClr val="FF0000"/>
                </a:solidFill>
              </a:rPr>
              <a:t>. 03. 202</a:t>
            </a:r>
            <a:r>
              <a:rPr lang="en-US" sz="1900" b="1" dirty="0">
                <a:solidFill>
                  <a:srgbClr val="FF0000"/>
                </a:solidFill>
              </a:rPr>
              <a:t>6</a:t>
            </a:r>
            <a:r>
              <a:rPr lang="sk-SK" sz="1900" b="1" dirty="0">
                <a:solidFill>
                  <a:srgbClr val="FF0000"/>
                </a:solidFill>
              </a:rPr>
              <a:t> </a:t>
            </a:r>
            <a:r>
              <a:rPr lang="sk-SK" sz="1900" b="1" dirty="0"/>
              <a:t>– EČ MS z matematiky</a:t>
            </a:r>
          </a:p>
          <a:p>
            <a:r>
              <a:rPr lang="sk-SK" sz="1900" b="1" dirty="0">
                <a:solidFill>
                  <a:srgbClr val="FF0000"/>
                </a:solidFill>
              </a:rPr>
              <a:t>27. 02. 202</a:t>
            </a:r>
            <a:r>
              <a:rPr lang="en-US" sz="1900" b="1" dirty="0">
                <a:solidFill>
                  <a:srgbClr val="FF0000"/>
                </a:solidFill>
              </a:rPr>
              <a:t>6</a:t>
            </a:r>
            <a:r>
              <a:rPr lang="sk-SK" sz="1900" b="1" dirty="0">
                <a:solidFill>
                  <a:srgbClr val="FF0000"/>
                </a:solidFill>
              </a:rPr>
              <a:t> </a:t>
            </a:r>
            <a:r>
              <a:rPr lang="sk-SK" sz="1900" b="1" dirty="0"/>
              <a:t>–  odovzdanie maturitných projektov konzultantom</a:t>
            </a:r>
          </a:p>
          <a:p>
            <a:r>
              <a:rPr lang="sk-SK" sz="1900" b="1" dirty="0">
                <a:solidFill>
                  <a:srgbClr val="FF0000"/>
                </a:solidFill>
              </a:rPr>
              <a:t>08. 04. – 13. 04. 202</a:t>
            </a:r>
            <a:r>
              <a:rPr lang="en-US" sz="1900" b="1" dirty="0">
                <a:solidFill>
                  <a:srgbClr val="FF0000"/>
                </a:solidFill>
              </a:rPr>
              <a:t>6</a:t>
            </a:r>
            <a:r>
              <a:rPr lang="sk-SK" sz="1900" b="1" dirty="0">
                <a:solidFill>
                  <a:srgbClr val="FF0000"/>
                </a:solidFill>
              </a:rPr>
              <a:t>-  </a:t>
            </a:r>
            <a:r>
              <a:rPr lang="sk-SK" sz="1900" b="1" dirty="0"/>
              <a:t>– náhradný termín EČ a PFIČ MS</a:t>
            </a:r>
          </a:p>
          <a:p>
            <a:r>
              <a:rPr lang="sk-SK" sz="1900" b="1" dirty="0">
                <a:solidFill>
                  <a:srgbClr val="FF0000"/>
                </a:solidFill>
                <a:highlight>
                  <a:srgbClr val="FFFF00"/>
                </a:highlight>
              </a:rPr>
              <a:t>27.04 – 30.04 202</a:t>
            </a:r>
            <a:r>
              <a:rPr lang="en-US" sz="1900" b="1" dirty="0">
                <a:solidFill>
                  <a:srgbClr val="FF0000"/>
                </a:solidFill>
                <a:highlight>
                  <a:srgbClr val="FFFF00"/>
                </a:highlight>
              </a:rPr>
              <a:t>6</a:t>
            </a:r>
            <a:r>
              <a:rPr lang="sk-SK" sz="1900" b="1" dirty="0">
                <a:highlight>
                  <a:srgbClr val="FFFF00"/>
                </a:highlight>
              </a:rPr>
              <a:t>– praktická časť odbornej zložky MS</a:t>
            </a:r>
          </a:p>
          <a:p>
            <a:r>
              <a:rPr lang="sk-SK" sz="1900" b="1" dirty="0">
                <a:solidFill>
                  <a:srgbClr val="FF0000"/>
                </a:solidFill>
                <a:highlight>
                  <a:srgbClr val="FFFF00"/>
                </a:highlight>
              </a:rPr>
              <a:t>18. 05. - 22. 05. 202</a:t>
            </a:r>
            <a:r>
              <a:rPr lang="en-US" sz="1900" b="1" dirty="0">
                <a:solidFill>
                  <a:srgbClr val="FF0000"/>
                </a:solidFill>
                <a:highlight>
                  <a:srgbClr val="FFFF00"/>
                </a:highlight>
              </a:rPr>
              <a:t>6</a:t>
            </a:r>
            <a:r>
              <a:rPr lang="sk-SK" sz="1900" b="1" dirty="0">
                <a:solidFill>
                  <a:srgbClr val="FF0000"/>
                </a:solidFill>
                <a:highlight>
                  <a:srgbClr val="FFFF00"/>
                </a:highlight>
              </a:rPr>
              <a:t> </a:t>
            </a:r>
            <a:r>
              <a:rPr lang="sk-SK" sz="1900" b="1" dirty="0">
                <a:highlight>
                  <a:srgbClr val="FFFF00"/>
                </a:highlight>
              </a:rPr>
              <a:t>– „akademický týždeň“ na prípravu na MS</a:t>
            </a:r>
          </a:p>
          <a:p>
            <a:r>
              <a:rPr lang="sk-SK" sz="1900" b="1" dirty="0">
                <a:solidFill>
                  <a:srgbClr val="FF0000"/>
                </a:solidFill>
                <a:highlight>
                  <a:srgbClr val="FFFF00"/>
                </a:highlight>
              </a:rPr>
              <a:t>25. 05. -  29. 05. 202</a:t>
            </a:r>
            <a:r>
              <a:rPr lang="en-US" sz="1900" b="1" dirty="0">
                <a:solidFill>
                  <a:srgbClr val="FF0000"/>
                </a:solidFill>
                <a:highlight>
                  <a:srgbClr val="FFFF00"/>
                </a:highlight>
              </a:rPr>
              <a:t>6</a:t>
            </a:r>
            <a:r>
              <a:rPr lang="sk-SK" sz="1900" b="1" dirty="0">
                <a:solidFill>
                  <a:srgbClr val="FF0000"/>
                </a:solidFill>
                <a:highlight>
                  <a:srgbClr val="FFFF00"/>
                </a:highlight>
              </a:rPr>
              <a:t> </a:t>
            </a:r>
            <a:r>
              <a:rPr lang="sk-SK" sz="1900" b="1" dirty="0">
                <a:highlight>
                  <a:srgbClr val="FFFF00"/>
                </a:highlight>
              </a:rPr>
              <a:t>– ústna forma internej časti MS</a:t>
            </a:r>
          </a:p>
          <a:p>
            <a:endParaRPr lang="sk-SK" sz="1900" b="1" dirty="0"/>
          </a:p>
          <a:p>
            <a:endParaRPr lang="sk-SK" sz="1900" b="1" dirty="0"/>
          </a:p>
          <a:p>
            <a:endParaRPr lang="sk-SK" sz="1900" b="1" dirty="0"/>
          </a:p>
          <a:p>
            <a:endParaRPr lang="sk-SK" sz="1900" b="1" dirty="0"/>
          </a:p>
          <a:p>
            <a:endParaRPr lang="sk-SK" sz="1900" b="1" dirty="0"/>
          </a:p>
          <a:p>
            <a:endParaRPr lang="sk-SK" sz="1900" b="1" dirty="0"/>
          </a:p>
          <a:p>
            <a:endParaRPr lang="sk-SK" sz="1900" b="1" dirty="0"/>
          </a:p>
          <a:p>
            <a:endParaRPr lang="sk-SK" sz="1900" b="1" dirty="0"/>
          </a:p>
        </p:txBody>
      </p:sp>
      <p:sp>
        <p:nvSpPr>
          <p:cNvPr id="3" name="Zástupný symbol čísla snímky 2"/>
          <p:cNvSpPr>
            <a:spLocks noGrp="1"/>
          </p:cNvSpPr>
          <p:nvPr>
            <p:ph type="sldNum" sz="quarter" idx="12"/>
          </p:nvPr>
        </p:nvSpPr>
        <p:spPr/>
        <p:txBody>
          <a:bodyPr/>
          <a:lstStyle/>
          <a:p>
            <a:fld id="{60ED3F64-EEEE-43E4-80C0-65816F620A91}" type="slidenum">
              <a:rPr lang="sk-SK" smtClean="0"/>
              <a:t>17</a:t>
            </a:fld>
            <a:endParaRPr lang="sk-SK"/>
          </a:p>
        </p:txBody>
      </p:sp>
      <p:sp>
        <p:nvSpPr>
          <p:cNvPr id="4" name="Nadpis 3"/>
          <p:cNvSpPr>
            <a:spLocks noGrp="1"/>
          </p:cNvSpPr>
          <p:nvPr>
            <p:ph type="title"/>
          </p:nvPr>
        </p:nvSpPr>
        <p:spPr/>
        <p:txBody>
          <a:bodyPr>
            <a:normAutofit/>
          </a:bodyPr>
          <a:lstStyle/>
          <a:p>
            <a:r>
              <a:rPr lang="sk-SK" b="1" dirty="0"/>
              <a:t>Termíny MS v SPŠE, </a:t>
            </a:r>
            <a:r>
              <a:rPr lang="sk-SK" b="1" dirty="0" err="1"/>
              <a:t>Hálova</a:t>
            </a:r>
            <a:endParaRPr lang="sk-SK" dirty="0"/>
          </a:p>
        </p:txBody>
      </p:sp>
    </p:spTree>
    <p:extLst>
      <p:ext uri="{BB962C8B-B14F-4D97-AF65-F5344CB8AC3E}">
        <p14:creationId xmlns:p14="http://schemas.microsoft.com/office/powerpoint/2010/main" val="29087916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var vlnenia">
  <a:themeElements>
    <a:clrScheme name="Tvar vlnenia">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Tvar vlnenia">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var vlnenia">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219BA8B1EDA29A458FDDE2B17BFF03FD" ma:contentTypeVersion="12" ma:contentTypeDescription="Umožňuje vytvoriť nový dokument." ma:contentTypeScope="" ma:versionID="8daeea8ff591dc73747e27459a661b4a">
  <xsd:schema xmlns:xsd="http://www.w3.org/2001/XMLSchema" xmlns:xs="http://www.w3.org/2001/XMLSchema" xmlns:p="http://schemas.microsoft.com/office/2006/metadata/properties" xmlns:ns3="529e5212-39a4-497a-a19f-19fc634f79fc" targetNamespace="http://schemas.microsoft.com/office/2006/metadata/properties" ma:root="true" ma:fieldsID="88b061b7b79d3ae573b9de3de65af365" ns3:_="">
    <xsd:import namespace="529e5212-39a4-497a-a19f-19fc634f79fc"/>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_activity"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9e5212-39a4-497a-a19f-19fc634f79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Location" ma:index="19" nillable="true" ma:displayName="Location" ma:descrip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29e5212-39a4-497a-a19f-19fc634f79fc" xsi:nil="true"/>
  </documentManagement>
</p:properties>
</file>

<file path=customXml/itemProps1.xml><?xml version="1.0" encoding="utf-8"?>
<ds:datastoreItem xmlns:ds="http://schemas.openxmlformats.org/officeDocument/2006/customXml" ds:itemID="{0D726B13-9FCB-4A0A-8099-F1B599C758F6}">
  <ds:schemaRefs>
    <ds:schemaRef ds:uri="http://schemas.microsoft.com/sharepoint/v3/contenttype/forms"/>
  </ds:schemaRefs>
</ds:datastoreItem>
</file>

<file path=customXml/itemProps2.xml><?xml version="1.0" encoding="utf-8"?>
<ds:datastoreItem xmlns:ds="http://schemas.openxmlformats.org/officeDocument/2006/customXml" ds:itemID="{3CB03685-0E62-4BD2-9BD9-CAC0D3173E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29e5212-39a4-497a-a19f-19fc634f79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FA7CB0-2255-4778-8ABF-2043FBF4BEB9}">
  <ds:schemaRefs>
    <ds:schemaRef ds:uri="http://www.w3.org/XML/1998/namespace"/>
    <ds:schemaRef ds:uri="http://purl.org/dc/dcmitype/"/>
    <ds:schemaRef ds:uri="529e5212-39a4-497a-a19f-19fc634f79fc"/>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Waveform</Template>
  <TotalTime>431</TotalTime>
  <Words>1515</Words>
  <Application>Microsoft Office PowerPoint</Application>
  <PresentationFormat>Prezentácia na obrazovke (4:3)</PresentationFormat>
  <Paragraphs>124</Paragraphs>
  <Slides>17</Slides>
  <Notes>0</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17</vt:i4>
      </vt:variant>
    </vt:vector>
  </HeadingPairs>
  <TitlesOfParts>
    <vt:vector size="22" baseType="lpstr">
      <vt:lpstr>Calibri</vt:lpstr>
      <vt:lpstr>Candara</vt:lpstr>
      <vt:lpstr>Courier New</vt:lpstr>
      <vt:lpstr>Symbol</vt:lpstr>
      <vt:lpstr>Tvar vlnenia</vt:lpstr>
      <vt:lpstr>Základné informácie</vt:lpstr>
      <vt:lpstr>CIEĽ MATURITNEJ SKÚŠKY</vt:lpstr>
      <vt:lpstr>PRIHLÁSENIE ŽIAKA NA  MATURITNÚ SKÚŠKU</vt:lpstr>
      <vt:lpstr>Organizácia maturitnej skúšky </vt:lpstr>
      <vt:lpstr>Organizácia maturitnej skúšky</vt:lpstr>
      <vt:lpstr>Predmety maturitnej skúšky</vt:lpstr>
      <vt:lpstr>Predmety maturitnej skúšky</vt:lpstr>
      <vt:lpstr>Predmety maturitnej skúšky</vt:lpstr>
      <vt:lpstr>Pravidlá priebehu PČOZ MS v  SPŠE Hálova</vt:lpstr>
      <vt:lpstr>Pravidlá priebehu PČOZ MS na  SPŠE Hálova</vt:lpstr>
      <vt:lpstr>Pravidlá priebehu PČOZ MS na  SPŠE Hálova</vt:lpstr>
      <vt:lpstr>Dobrovoľná maturitná skúška</vt:lpstr>
      <vt:lpstr>Hodnotenie a klasifikácia maturitnej skúšky</vt:lpstr>
      <vt:lpstr>Hodnotenie a klasifikácia maturitnej skúšky</vt:lpstr>
      <vt:lpstr>Hodnotenie a klasifikácia maturitnej skúšky</vt:lpstr>
      <vt:lpstr>Informácie o maturitných skúškach</vt:lpstr>
      <vt:lpstr>Termíny MS v SPŠE, Hálova</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Základné informácie - Maturita 2020</dc:title>
  <dc:creator>valentovicova</dc:creator>
  <cp:lastModifiedBy>Zatkalík Dominik</cp:lastModifiedBy>
  <cp:revision>52</cp:revision>
  <dcterms:created xsi:type="dcterms:W3CDTF">2019-09-06T18:59:14Z</dcterms:created>
  <dcterms:modified xsi:type="dcterms:W3CDTF">2025-09-01T06:32:03Z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0x010100219BA8B1EDA29A458FDDE2B17BFF03FD</vt:lpwstr>
  </property>
</Properties>
</file>